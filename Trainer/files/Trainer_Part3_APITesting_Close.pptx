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Day 2 — 11:00 (after break)
Say: 'We tested UIs and units. Now we test the layer in between — the API. Testing the API is faster, more reliable and less brittle than testing through the UI.'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11:00 – 11:15  (15 min)
Analogy: 'An API is like a waiter. You give the waiter your order (request). They go to the kitchen (server) and bring back your food (response). You test the waiter — not the kitchen directly.'
Key: API tests are faster and more stable than Selenium tests.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11:15 – 11:30  (15 min)
Memory aids:
- HTTP methods: GET gets, POST posts new, PUT puts (replaces), DELETE deletes, PATCH patches (partial).
- Status codes: 2xx = success, 4xx = your fault, 5xx = their fault.
Q: 'PUT vs PATCH?' PUT replaces whole record. PATCH updates only fields sent.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11:30 – 12:00  (30 min)
LIVE DEMO in Postman:
1. Create collection 'Demo API Tests'
2. Add GET request to demo API endpoint
3. Run it — show 200 response and JSON body
4. Add assertion: pm.test('Status 200', () =&gt; pm.response.to.have.status(200))
5. Run again — show test result
SCREENSHOT: Replace the grey box with a real screenshot before training day.
LUNCH: 12:00 – 13:00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13:00 – 13:30  (30 min)
LIVE CODE — write the same test they did in Postman, now in REST Assured.
The given/when/then structure is BDD at the API level. Name it — they'll hear it again in mid-level with Cucumber.
Q: 'Which is better — Postman or REST Assured?' Different purposes. Postman for exploration. REST Assured for automated regression in a pipeline. Use both.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13:30 – 13:45  (15 min)
RUN IT LIVE — open terminal, run newman run collection.json. Let them see the output scroll.
Say: 'This single command is all GitHub Actions needs to run your entire API test suite on every commit. That is next level.'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13:45 – 14:00  (15 min)
BP 03 story: 'Team A creates 50 test users in the morning. Team B runs tests in the afternoon — duplicate user errors everywhere. Nobody knows why. Team A's tests never cleaned up. Stateless tests prevent this.'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LAB 3 ANSWERS:
Postman assertions (Tests tab):
pm.test('Status 200', () =&gt; pm.response.to.have.status(200));
pm.test('Name correct', () =&gt; pm.expect(pm.response.json().name).to.eql('John Doe'));
pm.test('404 for invalid id', () =&gt; pm.response.to.have.status(404));
REST Assured:
given().baseUri('https://api.example.com')
  .when().get('/users/1')
  .then().statusCode(200).body('name', equalTo('John Doe'));
given().baseUri('https://api.example.com')
  .contentType('application/json')
  .body('{"name":"Test User","email":"test@test.com"}')
  .when().post('/users')
  .then().statusCode(201);
Newman:
newman run DemoAPI.json -e dev.json
COMMON ERRORS:
1. Missing Content-Type header on POST — add .contentType('application/json') in given()
2. Newman fails — check collection exported as v2.1 from Postman
3. 401 on all requests — environment variable for API token not set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students finish early: ask them to add a DELETE test that cleans up the user they created in the POST test. Reinforces best practice 03 — stateless tests.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Day 2 — approx 16:45
Say: 'We tested that the API returns the right data. Next level tests whether it handles thousands of users at once — JMeter and k6. And right now you run tests manually. Mid-level plugs everything into a pipeline that runs on every commit.'
Two sentences per topic. Move to summary.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16:45 – 17:00
Ask: 'Who feels confident writing a Selenium test tomorrow morning?' Hands. Then unit test? API test?
Acknowledge hesitation: 'If you are not fully confident yet — completely normal. Confidence comes from doing it repeatedly. Today you did it once. Do it three more times and it feels natural.'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'Everything on the left — you have done. Everything on the right — that is mid-level. The gap between left and right is about 4 weeks of practice on the job. When you come back, you will have real project experience to apply the new concepts to.'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OF TRAINER GUIDE — PART 3
All 3 parts combined cover the full 2-day training.
Part 1: Foundations + Automation Fundamentals (13 slides)
Part 2: Selenium + Unit Testing (16 slides)
Part 3: API Testing + Close (13 slides)
Total: 42 trainer slides with speaker notes on every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0D9488">
              <a:alpha val="1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463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Testing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640080" y="29260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Assured, Postman and Newman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API TESTING?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178040" y="109728"/>
            <a:ext cx="1600200" cy="475488"/>
          </a:xfrm>
          <a:prstGeom prst="roundRect">
            <a:avLst>
              <a:gd name="adj" fmla="val 11538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78040" y="109728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05  •  API Testing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8503920" cy="804672"/>
          </a:xfrm>
          <a:prstGeom prst="roundRect">
            <a:avLst>
              <a:gd name="adj" fmla="val 11364"/>
            </a:avLst>
          </a:prstGeom>
          <a:solidFill>
            <a:srgbClr val="CCFBF1"/>
          </a:solidFill>
          <a:ln w="12700">
            <a:solidFill>
              <a:srgbClr val="99F6E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75488" y="91440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testing verifies that application interfaces work correctly — sending the right data, returning the right responses, and handling errors gracefully.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20040" y="1828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an API Call Works: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2240280"/>
            <a:ext cx="1737360" cy="804672"/>
          </a:xfrm>
          <a:prstGeom prst="roundRect">
            <a:avLst>
              <a:gd name="adj" fmla="val 9091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2240280"/>
            <a:ext cx="1737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(Your Test)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075688" y="2450592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496312" y="2240280"/>
            <a:ext cx="1737360" cy="804672"/>
          </a:xfrm>
          <a:prstGeom prst="roundRect">
            <a:avLst>
              <a:gd name="adj" fmla="val 90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96312" y="2240280"/>
            <a:ext cx="1737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251960" y="2450592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672584" y="2240280"/>
            <a:ext cx="1737360" cy="804672"/>
          </a:xfrm>
          <a:prstGeom prst="roundRect">
            <a:avLst>
              <a:gd name="adj" fmla="val 9091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72584" y="2240280"/>
            <a:ext cx="1737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428232" y="2450592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848856" y="2240280"/>
            <a:ext cx="1737360" cy="804672"/>
          </a:xfrm>
          <a:prstGeom prst="roundRect">
            <a:avLst>
              <a:gd name="adj" fmla="val 9091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48856" y="2240280"/>
            <a:ext cx="1737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" y="3246120"/>
            <a:ext cx="4114800" cy="658368"/>
          </a:xfrm>
          <a:prstGeom prst="roundRect">
            <a:avLst>
              <a:gd name="adj" fmla="val 1388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7200" y="3300984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🔢  Status Code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57200" y="3575304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 OK  •  404 Not Found  •  500 Server Error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09160" y="3246120"/>
            <a:ext cx="4114800" cy="658368"/>
          </a:xfrm>
          <a:prstGeom prst="roundRect">
            <a:avLst>
              <a:gd name="adj" fmla="val 1388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846320" y="3300984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📦  Response Body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846320" y="3575304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 fields · Values correct · Data types match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" y="3995928"/>
            <a:ext cx="4114800" cy="658368"/>
          </a:xfrm>
          <a:prstGeom prst="roundRect">
            <a:avLst>
              <a:gd name="adj" fmla="val 1388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57200" y="4050792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⏱️  Response Time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57200" y="4325112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responds within acceptable threshold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09160" y="3995928"/>
            <a:ext cx="4114800" cy="658368"/>
          </a:xfrm>
          <a:prstGeom prst="roundRect">
            <a:avLst>
              <a:gd name="adj" fmla="val 1388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846320" y="4050792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 Error Handling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846320" y="4325112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Invalid input 400  •  Unauthorised 401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Trainer Guide  —  Section 05: API Testing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HTTP METHODS &amp; STATUS CODES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178040" y="109728"/>
            <a:ext cx="1600200" cy="475488"/>
          </a:xfrm>
          <a:prstGeom prst="roundRect">
            <a:avLst>
              <a:gd name="adj" fmla="val 11538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78040" y="109728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05  •  API Testing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20040" y="8686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HTTP Methods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261872"/>
            <a:ext cx="4114800" cy="566928"/>
          </a:xfrm>
          <a:prstGeom prst="roundRect">
            <a:avLst>
              <a:gd name="adj" fmla="val 1612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38912" y="1335024"/>
            <a:ext cx="841248" cy="402336"/>
          </a:xfrm>
          <a:prstGeom prst="roundRect">
            <a:avLst>
              <a:gd name="adj" fmla="val 13636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335024"/>
            <a:ext cx="841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389888" y="137160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Retrieve data — read only, no changes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" y="1920240"/>
            <a:ext cx="4114800" cy="566928"/>
          </a:xfrm>
          <a:prstGeom prst="roundRect">
            <a:avLst>
              <a:gd name="adj" fmla="val 1612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8912" y="1993392"/>
            <a:ext cx="841248" cy="402336"/>
          </a:xfrm>
          <a:prstGeom prst="roundRect">
            <a:avLst>
              <a:gd name="adj" fmla="val 13636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1993392"/>
            <a:ext cx="841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389888" y="202996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new data — send data in request body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" y="2578608"/>
            <a:ext cx="4114800" cy="566928"/>
          </a:xfrm>
          <a:prstGeom prst="roundRect">
            <a:avLst>
              <a:gd name="adj" fmla="val 1612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38912" y="2651760"/>
            <a:ext cx="841248" cy="402336"/>
          </a:xfrm>
          <a:prstGeom prst="roundRect">
            <a:avLst>
              <a:gd name="adj" fmla="val 13636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2651760"/>
            <a:ext cx="841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389888" y="2688336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existing data — replace the full record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0040" y="3236976"/>
            <a:ext cx="4114800" cy="566928"/>
          </a:xfrm>
          <a:prstGeom prst="roundRect">
            <a:avLst>
              <a:gd name="adj" fmla="val 1612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38912" y="3310128"/>
            <a:ext cx="841248" cy="402336"/>
          </a:xfrm>
          <a:prstGeom prst="roundRect">
            <a:avLst>
              <a:gd name="adj" fmla="val 13636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912" y="3310128"/>
            <a:ext cx="841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389888" y="3346704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 a resource from the server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20040" y="3895344"/>
            <a:ext cx="4114800" cy="566928"/>
          </a:xfrm>
          <a:prstGeom prst="roundRect">
            <a:avLst>
              <a:gd name="adj" fmla="val 1612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38912" y="3968496"/>
            <a:ext cx="841248" cy="402336"/>
          </a:xfrm>
          <a:prstGeom prst="round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8912" y="3968496"/>
            <a:ext cx="841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PATCH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389888" y="400507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 update — modify only specific fields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709160" y="8686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Status Codes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709160" y="1261872"/>
            <a:ext cx="4114800" cy="475488"/>
          </a:xfrm>
          <a:prstGeom prst="roundRect">
            <a:avLst>
              <a:gd name="adj" fmla="val 1923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846320" y="131673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 OK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846320" y="153619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succeeded.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709160" y="1828800"/>
            <a:ext cx="4114800" cy="475488"/>
          </a:xfrm>
          <a:prstGeom prst="roundRect">
            <a:avLst>
              <a:gd name="adj" fmla="val 1923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846320" y="188366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201 Created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846320" y="210312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resource created successfully.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709160" y="2395728"/>
            <a:ext cx="4114800" cy="475488"/>
          </a:xfrm>
          <a:prstGeom prst="roundRect">
            <a:avLst>
              <a:gd name="adj" fmla="val 1923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846320" y="245059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400 Bad Request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846320" y="267004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Invalid input — check request body or params.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709160" y="2962656"/>
            <a:ext cx="4114800" cy="475488"/>
          </a:xfrm>
          <a:prstGeom prst="roundRect">
            <a:avLst>
              <a:gd name="adj" fmla="val 1923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846320" y="30175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401 Unauthorised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846320" y="323697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 required or failed.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709160" y="3529584"/>
            <a:ext cx="4114800" cy="475488"/>
          </a:xfrm>
          <a:prstGeom prst="roundRect">
            <a:avLst>
              <a:gd name="adj" fmla="val 1923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4846320" y="358444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404 Not Found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4846320" y="3803904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resource does not exist.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709160" y="4096512"/>
            <a:ext cx="4114800" cy="475488"/>
          </a:xfrm>
          <a:prstGeom prst="roundRect">
            <a:avLst>
              <a:gd name="adj" fmla="val 1923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4846320" y="415137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500 Internal Server Error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4846320" y="437083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Something broke on the server.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Trainer Guide  —  Section 05: API Testing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TESTING WITH POSTMAN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178040" y="109728"/>
            <a:ext cx="1600200" cy="475488"/>
          </a:xfrm>
          <a:prstGeom prst="roundRect">
            <a:avLst>
              <a:gd name="adj" fmla="val 11538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78040" y="109728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05  •  API Testing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8503920" cy="658368"/>
          </a:xfrm>
          <a:prstGeom prst="roundRect">
            <a:avLst>
              <a:gd name="adj" fmla="val 1388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75488" y="91440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Postman is a GUI tool for sending HTTP requests and writing assertions on responses — the fastest way to explore and test an API interactively.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627632"/>
            <a:ext cx="5074920" cy="2487168"/>
          </a:xfrm>
          <a:prstGeom prst="roundRect">
            <a:avLst>
              <a:gd name="adj" fmla="val 3676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" y="2286000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[SCREENSHOT]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20040" y="2816352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with screenshot of your Postman collection before training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577840" y="1627632"/>
            <a:ext cx="3246120" cy="54864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715000" y="1673352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Collections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715000" y="1901952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related requests — e.g. all login API tests together.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577840" y="2249424"/>
            <a:ext cx="3246120" cy="54864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715000" y="2295144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715000" y="2523744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base URLs and tokens as variables — never hardcode.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577840" y="2871216"/>
            <a:ext cx="3246120" cy="54864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715000" y="2916936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Assertions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715000" y="3145536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JavaScript in Tests tab to verify status, body, timing.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577840" y="3493008"/>
            <a:ext cx="3246120" cy="54864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715000" y="3538728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Newman (CLI)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715000" y="3767328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your collection from terminal — integrate into pipelines.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0040" y="4206240"/>
            <a:ext cx="8503920" cy="512064"/>
          </a:xfrm>
          <a:prstGeom prst="roundRect">
            <a:avLst>
              <a:gd name="adj" fmla="val 17857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75488" y="4242816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  Best Practice: Use environments for base URLs and tokens. Never hardcode URLs or API keys in your collection.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" y="4773168"/>
            <a:ext cx="8503920" cy="256032"/>
          </a:xfrm>
          <a:prstGeom prst="roundRect">
            <a:avLst>
              <a:gd name="adj" fmla="val 35714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57200" y="4864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🎓  TRAINER NOTE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5157216"/>
            <a:ext cx="8229600" cy="-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[SCREENSHOT] box with a real Postman screenshot before the training day.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Trainer Guide  —  Section 05: API Testing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TESTING WITH REST ASSURED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178040" y="109728"/>
            <a:ext cx="1600200" cy="475488"/>
          </a:xfrm>
          <a:prstGeom prst="roundRect">
            <a:avLst>
              <a:gd name="adj" fmla="val 11538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78040" y="109728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05  •  API Testing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5074920" cy="4005072"/>
          </a:xfrm>
          <a:prstGeom prst="roundRect">
            <a:avLst>
              <a:gd name="adj" fmla="val 2283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75488" y="960120"/>
            <a:ext cx="4773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REST Assured — Java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75488" y="1261872"/>
            <a:ext cx="4773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io.restassured.RestAssured.*;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75488" y="1470355"/>
            <a:ext cx="4773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io.restassured.matcher.*;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75488" y="1887322"/>
            <a:ext cx="4773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@Test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75488" y="2095805"/>
            <a:ext cx="4773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getUserReturns200() {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75488" y="2512771"/>
            <a:ext cx="4773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given()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75488" y="2721254"/>
            <a:ext cx="4773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.baseUri("https://api.example.com")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75488" y="2929738"/>
            <a:ext cx="4773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.header("Accept", "application/json")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75488" y="3138221"/>
            <a:ext cx="4773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.when()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75488" y="3346704"/>
            <a:ext cx="4773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.get("/users/1")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75488" y="3555187"/>
            <a:ext cx="4773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.then()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75488" y="3763670"/>
            <a:ext cx="4773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.statusCode(200)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75488" y="3972154"/>
            <a:ext cx="4773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.body("name", equalTo("John Doe"))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75488" y="4180637"/>
            <a:ext cx="4773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.body("email", notNullValue());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75488" y="4389120"/>
            <a:ext cx="4773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577840" y="896112"/>
            <a:ext cx="3246120" cy="960120"/>
          </a:xfrm>
          <a:prstGeom prst="roundRect">
            <a:avLst>
              <a:gd name="adj" fmla="val 952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715000" y="969264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given()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715000" y="1399032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up preconditions — base URL, headers, auth, body.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577840" y="1975104"/>
            <a:ext cx="3246120" cy="960120"/>
          </a:xfrm>
          <a:prstGeom prst="roundRect">
            <a:avLst>
              <a:gd name="adj" fmla="val 952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715000" y="2048256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when()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715000" y="2478024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 the action — which HTTP method and endpoint.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577840" y="3054096"/>
            <a:ext cx="3246120" cy="960120"/>
          </a:xfrm>
          <a:prstGeom prst="roundRect">
            <a:avLst>
              <a:gd name="adj" fmla="val 952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715000" y="3127248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then()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715000" y="3557016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Assert the response — status code, body, response time.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577840" y="4133088"/>
            <a:ext cx="3246120" cy="658368"/>
          </a:xfrm>
          <a:prstGeom prst="roundRect">
            <a:avLst>
              <a:gd name="adj" fmla="val 13889"/>
            </a:avLst>
          </a:prstGeom>
          <a:solidFill>
            <a:srgbClr val="ECFDF5"/>
          </a:solidFill>
          <a:ln w="1270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715000" y="4187952"/>
            <a:ext cx="2971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Always validate BOTH status code AND response body — never just one.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Trainer Guide  —  Section 05: API Testing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RUNNING TESTS WITH NEWMAN (CLI)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178040" y="109728"/>
            <a:ext cx="1600200" cy="475488"/>
          </a:xfrm>
          <a:prstGeom prst="roundRect">
            <a:avLst>
              <a:gd name="adj" fmla="val 11538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78040" y="109728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05  •  API Testing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8503920" cy="658368"/>
          </a:xfrm>
          <a:prstGeom prst="roundRect">
            <a:avLst>
              <a:gd name="adj" fmla="val 1388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75488" y="91440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Newman is the command-line companion to Postman. It runs your collections from the terminal — without opening the Postman UI.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16642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Commands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2057400"/>
            <a:ext cx="8503920" cy="621792"/>
          </a:xfrm>
          <a:prstGeom prst="roundRect">
            <a:avLst>
              <a:gd name="adj" fmla="val 14706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" y="210312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 npm install -g newman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75488" y="2404872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 Newman globally via Node.js (one time only)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2770632"/>
            <a:ext cx="8503920" cy="621792"/>
          </a:xfrm>
          <a:prstGeom prst="roundRect">
            <a:avLst>
              <a:gd name="adj" fmla="val 14706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5488" y="2816352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 newman run collection.json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75488" y="3118104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a Postman collection exported as JSON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3483864"/>
            <a:ext cx="8503920" cy="621792"/>
          </a:xfrm>
          <a:prstGeom prst="roundRect">
            <a:avLst>
              <a:gd name="adj" fmla="val 14706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5488" y="3529584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 newman run collection.json -e env.json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75488" y="3831336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with a Postman environment file (variables)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4197096"/>
            <a:ext cx="8503920" cy="621792"/>
          </a:xfrm>
          <a:prstGeom prst="roundRect">
            <a:avLst>
              <a:gd name="adj" fmla="val 14706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" y="4242816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 newman run collection.json --reporters cli,junit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75488" y="4544568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results to terminal and JUnit XML for CI/CD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4645152"/>
            <a:ext cx="8503920" cy="365760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75488" y="466344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Newman is what makes Postman tests work in a CI/CD pipeline — GitHub Actions, Jenkins, or any automation server can run it.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Trainer Guide  —  Section 05: API Testing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PRACTICES — API TESTING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178040" y="109728"/>
            <a:ext cx="1600200" cy="475488"/>
          </a:xfrm>
          <a:prstGeom prst="roundRect">
            <a:avLst>
              <a:gd name="adj" fmla="val 11538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78040" y="109728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05  •  API Testing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0040" y="896112"/>
            <a:ext cx="8503920" cy="1234440"/>
          </a:xfrm>
          <a:prstGeom prst="roundRect">
            <a:avLst>
              <a:gd name="adj" fmla="val 740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75488" y="1060704"/>
            <a:ext cx="475488" cy="868680"/>
          </a:xfrm>
          <a:prstGeom prst="roundRect">
            <a:avLst>
              <a:gd name="adj" fmla="val 1346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060704"/>
            <a:ext cx="4754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7280" y="1005840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Always validate status code AND response body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1408176"/>
            <a:ext cx="7406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200 with the wrong data is still a failure. Always check both that the request succeeded and that the data returned is correct.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2267712"/>
            <a:ext cx="8503920" cy="1234440"/>
          </a:xfrm>
          <a:prstGeom prst="roundRect">
            <a:avLst>
              <a:gd name="adj" fmla="val 740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" y="2432304"/>
            <a:ext cx="475488" cy="868680"/>
          </a:xfrm>
          <a:prstGeom prst="roundRect">
            <a:avLst>
              <a:gd name="adj" fmla="val 13462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2432304"/>
            <a:ext cx="4754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97280" y="2377440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Use environments — never hardcode URLs or tokens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2779776"/>
            <a:ext cx="7406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Hardcoded URLs and API keys break when environments change and expose secrets in your code. Use Postman environments or config files.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3639312"/>
            <a:ext cx="8503920" cy="1234440"/>
          </a:xfrm>
          <a:prstGeom prst="roundRect">
            <a:avLst>
              <a:gd name="adj" fmla="val 740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" y="3803904"/>
            <a:ext cx="475488" cy="868680"/>
          </a:xfrm>
          <a:prstGeom prst="roundRect">
            <a:avLst>
              <a:gd name="adj" fmla="val 13462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3803904"/>
            <a:ext cx="4754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97280" y="3749040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API tests must be stateless — clean up what you create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97280" y="4151376"/>
            <a:ext cx="7406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your test creates a user, delete them at the end. Tests that leave data behind cause other tests to fail randomly.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Trainer Guide  —  Section 05: API Testing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-731520"/>
            <a:ext cx="3840480" cy="3840480"/>
          </a:xfrm>
          <a:prstGeom prst="ellipse">
            <a:avLst/>
          </a:prstGeom>
          <a:solidFill>
            <a:srgbClr val="0D9488">
              <a:alpha val="8000"/>
            </a:srgbClr>
          </a:solidFill>
          <a:ln w="12700">
            <a:solidFill>
              <a:srgbClr val="0D9488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6576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🔬  LAB 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80467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Testing — Postman &amp; REST Assured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94360" y="1664208"/>
            <a:ext cx="411480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78308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A — Postman + Newman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4360" y="2176272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1762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60120" y="217627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Postman to explore the provided REST API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4360" y="2651760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6517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60120" y="26517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GET request — retrieve a user, assert response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" y="3127248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1272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60120" y="3127248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POST request — create a new resource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94360" y="3602736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6027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60120" y="3602736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negative test — invalid ID returns 404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94360" y="4078224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40782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60120" y="4078224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the collection via Newman from terminal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663440" y="178308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B — REST Assured (Java)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63440" y="2212848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22128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029200" y="221284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Recreate GET test using REST Assured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663440" y="2807208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63440" y="28072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029200" y="280720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Recreate POST test using REST Assured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663440" y="3401568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63440" y="34015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029200" y="340156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Assert both status code AND response body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663440" y="3995928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63440" y="39959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029200" y="399592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mvn test and confirm all pass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94360" y="4617720"/>
            <a:ext cx="4389120" cy="384048"/>
          </a:xfrm>
          <a:prstGeom prst="roundRect">
            <a:avLst>
              <a:gd name="adj" fmla="val 16667"/>
            </a:avLst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4360" y="4626864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 Duration: 15:15 – 17:00  •  Day 2 Afternoon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7C2D12"/>
          </a:solidFill>
          <a:ln w="12700">
            <a:solidFill>
              <a:srgbClr val="7C2D1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3 — ANSWERS &amp; COMMON ERRORS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178040" y="109728"/>
            <a:ext cx="1600200" cy="475488"/>
          </a:xfrm>
          <a:prstGeom prst="roundRect">
            <a:avLst>
              <a:gd name="adj" fmla="val 11538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78040" y="109728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Trainer Only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0040" y="804672"/>
            <a:ext cx="2011680" cy="292608"/>
          </a:xfrm>
          <a:prstGeom prst="roundRect">
            <a:avLst>
              <a:gd name="adj" fmla="val 18750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80467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 TRAINER ONLY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1170432"/>
            <a:ext cx="8503920" cy="384048"/>
          </a:xfrm>
          <a:prstGeom prst="roundRect">
            <a:avLst>
              <a:gd name="adj" fmla="val 23810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5488" y="12070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 Do not show to students. Share answers verbally only.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" y="1664208"/>
            <a:ext cx="8503920" cy="91440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5488" y="17190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Assured — GET test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75488" y="1975104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given().baseUri("https://api.example.com")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.when().get("/users/1")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.then().statusCode(200).body("name", equalTo("John Doe"));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" y="2651760"/>
            <a:ext cx="8503920" cy="1078992"/>
          </a:xfrm>
          <a:prstGeom prst="roundRect">
            <a:avLst>
              <a:gd name="adj" fmla="val 8475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5488" y="2706624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Assured — POST test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5488" y="2962656"/>
            <a:ext cx="8229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given().baseUri("https://api.example.com")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.contentType("application/json")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.body("{\"name\":\"Test User\",\"email\":\"test@test.com\"}")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.when().post("/users")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.then().statusCode(201);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0040" y="3822192"/>
            <a:ext cx="8503920" cy="804672"/>
          </a:xfrm>
          <a:prstGeom prst="roundRect">
            <a:avLst>
              <a:gd name="adj" fmla="val 11364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5488" y="387705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Newman CLI command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5488" y="413308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newman run DemoAPI.postman_collection.json \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-e dev.postman_environment.json \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--reporters cli,junit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0040" y="4663440"/>
            <a:ext cx="8503920" cy="365760"/>
          </a:xfrm>
          <a:prstGeom prst="roundRect">
            <a:avLst>
              <a:gd name="adj" fmla="val 25000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🎓  TRAINER NOTE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5047488"/>
            <a:ext cx="8229600" cy="-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Missing Content-Type on POST.  2. Newman: export collection as v2.1 from Postman.  3. 401: check API token env variable.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7C2D12"/>
          </a:solidFill>
          <a:ln w="12700">
            <a:solidFill>
              <a:srgbClr val="7C2D1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Trainer Guide  —  Lab 3 Answers —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COMING IN MID-LEVEL TRAINING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178040" y="109728"/>
            <a:ext cx="1600200" cy="475488"/>
          </a:xfrm>
          <a:prstGeom prst="roundRect">
            <a:avLst>
              <a:gd name="adj" fmla="val 11538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78040" y="109728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Next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8503920" cy="566928"/>
          </a:xfrm>
          <a:prstGeom prst="roundRect">
            <a:avLst>
              <a:gd name="adj" fmla="val 16129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75488" y="914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Mention briefly — 2 sentences each. No teaching. This is a signpost only.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572768"/>
            <a:ext cx="2697480" cy="3035808"/>
          </a:xfrm>
          <a:prstGeom prst="roundRect">
            <a:avLst>
              <a:gd name="adj" fmla="val 339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5488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📜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75488" y="2286000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Contract Testing — Pact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75488" y="2816352"/>
            <a:ext cx="242316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multiple services talk to each other, Pact ensures they stay compatible. Consumer-driven contracts.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172968" y="1572768"/>
            <a:ext cx="2697480" cy="3035808"/>
          </a:xfrm>
          <a:prstGeom prst="roundRect">
            <a:avLst>
              <a:gd name="adj" fmla="val 339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328416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328416" y="2286000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Testing — JMeter &amp; k6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328416" y="2816352"/>
            <a:ext cx="242316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how your API handles 10,000 users at the same time. Load, stress and spike testing.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25896" y="1572768"/>
            <a:ext cx="2697480" cy="3035808"/>
          </a:xfrm>
          <a:prstGeom prst="roundRect">
            <a:avLst>
              <a:gd name="adj" fmla="val 339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181344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🔄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181344" y="2286000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CI/CD — GitHub Actions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181344" y="2816352"/>
            <a:ext cx="242316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your test suite automatically on every commit. No more manual runs. Plug in and go.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Trainer Guide  —  End of Section 05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HAVE LEARNED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178040" y="109728"/>
            <a:ext cx="1600200" cy="475488"/>
          </a:xfrm>
          <a:prstGeom prst="roundRect">
            <a:avLst>
              <a:gd name="adj" fmla="val 11538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78040" y="109728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 Summary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0040" y="896112"/>
            <a:ext cx="2697480" cy="1901952"/>
          </a:xfrm>
          <a:prstGeom prst="roundRect">
            <a:avLst>
              <a:gd name="adj" fmla="val 4808"/>
            </a:avLst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29768" y="987552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9875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1005840"/>
            <a:ext cx="198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Foundations of Testing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9768" y="14630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What software testing is and why it exists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29768" y="177393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Types and levels of testing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29768" y="20848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The testing pyramid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172968" y="896112"/>
            <a:ext cx="2697480" cy="1901952"/>
          </a:xfrm>
          <a:prstGeom prst="roundRect">
            <a:avLst>
              <a:gd name="adj" fmla="val 4808"/>
            </a:avLst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82696" y="987552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82696" y="9875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767328" y="1005840"/>
            <a:ext cx="198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Automation Fundamentals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82696" y="14630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What to automate — and what not to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282696" y="177393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3 core best practices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025896" y="896112"/>
            <a:ext cx="2697480" cy="1901952"/>
          </a:xfrm>
          <a:prstGeom prst="roundRect">
            <a:avLst>
              <a:gd name="adj" fmla="val 4808"/>
            </a:avLst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35624" y="987552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35624" y="9875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620256" y="1005840"/>
            <a:ext cx="198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Selenium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135624" y="14630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How WebDriver works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135624" y="177393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Locators — ID, CSS, XPath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135624" y="20848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First browser automation test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1746504" y="2944368"/>
            <a:ext cx="2697480" cy="1901952"/>
          </a:xfrm>
          <a:prstGeom prst="roundRect">
            <a:avLst>
              <a:gd name="adj" fmla="val 4808"/>
            </a:avLst>
          </a:prstGeom>
          <a:solidFill>
            <a:srgbClr val="EDE9FE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1856232" y="3035808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856232" y="30358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340864" y="3054096"/>
            <a:ext cx="198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 Testing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856232" y="351129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JUnit 5 annotations &amp; lifecycle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1856232" y="38221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pytest fixtures &amp; assertions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1856232" y="413308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Java vs Python comparison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599432" y="2944368"/>
            <a:ext cx="2697480" cy="1901952"/>
          </a:xfrm>
          <a:prstGeom prst="roundRect">
            <a:avLst>
              <a:gd name="adj" fmla="val 4808"/>
            </a:avLst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09160" y="3035808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09160" y="30358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193792" y="3054096"/>
            <a:ext cx="198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Testing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709160" y="351129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HTTP methods &amp; status codes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709160" y="38221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Postman collections &amp; assertions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709160" y="413308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REST Assured given/when/then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709160" y="444398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Newman CLI execution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Trainer Guide  —  Course Complete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LEARNING ROADMAP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178040" y="109728"/>
            <a:ext cx="1600200" cy="475488"/>
          </a:xfrm>
          <a:prstGeom prst="roundRect">
            <a:avLst>
              <a:gd name="adj" fmla="val 11538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78040" y="109728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Comes Next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3840480" cy="3913632"/>
          </a:xfrm>
          <a:prstGeom prst="roundRect">
            <a:avLst>
              <a:gd name="adj" fmla="val 2381"/>
            </a:avLst>
          </a:prstGeom>
          <a:solidFill>
            <a:srgbClr val="ECFDF5"/>
          </a:solidFill>
          <a:ln w="1270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75488" y="987552"/>
            <a:ext cx="1371600" cy="384048"/>
          </a:xfrm>
          <a:prstGeom prst="roundRect">
            <a:avLst>
              <a:gd name="adj" fmla="val 14286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98755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TODAY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5488" y="1481328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 Level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75488" y="1938528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What is software testing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5488" y="2185416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Types and levels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75488" y="2432304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Testing pyramid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75488" y="2679192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Automation fundamentals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75488" y="2926080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Selenium WebDriver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5488" y="3172968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JUnit 5 &amp; pytest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5488" y="3419856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REST Assured &amp; Postman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5488" y="3666744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Newman CLI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297680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94A3B8"/>
                </a:solidFill>
              </a:rPr>
              <a:t>→</a:t>
            </a:r>
            <a:endParaRPr lang="en-US" sz="2800" dirty="0"/>
          </a:p>
        </p:txBody>
      </p:sp>
      <p:sp>
        <p:nvSpPr>
          <p:cNvPr id="19" name="Shape 17"/>
          <p:cNvSpPr/>
          <p:nvPr/>
        </p:nvSpPr>
        <p:spPr>
          <a:xfrm>
            <a:off x="4983480" y="868680"/>
            <a:ext cx="3840480" cy="3913632"/>
          </a:xfrm>
          <a:prstGeom prst="roundRect">
            <a:avLst>
              <a:gd name="adj" fmla="val 2381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138928" y="987552"/>
            <a:ext cx="1554480" cy="384048"/>
          </a:xfrm>
          <a:prstGeom prst="roundRect">
            <a:avLst>
              <a:gd name="adj" fmla="val 14286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38928" y="98755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🔵  MID-LEVEL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138928" y="1481328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Mid Level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138928" y="1938528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Page Object Model (POM)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138928" y="2185416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BDD with Cucumber &amp; Gherkin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138928" y="2432304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Contract Testing with Pact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138928" y="2679192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Performance Testing — JMeter &amp; k6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138928" y="2926080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Mobile Automation — Appium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138928" y="3172968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CI/CD — GitHub Actions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138928" y="3419856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Test Reporting — Allure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138928" y="3666744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Advanced framework design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Trainer Guide  —  Your Next Steps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7C2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" cy="51435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-914400"/>
            <a:ext cx="4389120" cy="4389120"/>
          </a:xfrm>
          <a:prstGeom prst="ellipse">
            <a:avLst/>
          </a:prstGeom>
          <a:solidFill>
            <a:srgbClr val="EF4444">
              <a:alpha val="10000"/>
            </a:srgbClr>
          </a:solidFill>
          <a:ln w="12700">
            <a:solidFill>
              <a:srgbClr val="EF4444">
                <a:alpha val="1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9144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Complete.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4114800" cy="2743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2084832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C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Trainer notes, lab answers and prep checklist are in this deck.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2542032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C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TestAutomation_Student.pptx with students — not this file.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3108960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Post-training:  </a:t>
            </a:r>
            <a:pPr indent="0" marL="0">
              <a:buNone/>
            </a:pPr>
            <a:r>
              <a:rPr lang="en-US" sz="1100" dirty="0">
                <a:solidFill>
                  <a:srgbClr val="FC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 printed materials  •  Delete lab project from machines if required  •  Send mid-level follow-up email  •  Complete trainer feedback form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4360" y="3767328"/>
            <a:ext cx="3474720" cy="530352"/>
          </a:xfrm>
          <a:prstGeom prst="roundRect">
            <a:avLst>
              <a:gd name="adj" fmla="val 13793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3767328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CONFIDENTIAL — Do Not Distribute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450A0A"/>
          </a:solidFill>
          <a:ln w="12700">
            <a:solidFill>
              <a:srgbClr val="450A0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7731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C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TRAINER GUIDE — PART 3 OF 3  —  CONFIDENTIAL  —  Not for Distribution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Trainer Guide Part 3 - API Testing &amp; Close</dc:title>
  <dc:subject>PptxGenJS Presentation</dc:subject>
  <dc:creator>PptxGenJS</dc:creator>
  <cp:lastModifiedBy>PptxGenJS</cp:lastModifiedBy>
  <cp:revision>1</cp:revision>
  <dcterms:created xsi:type="dcterms:W3CDTF">2026-06-29T19:23:04Z</dcterms:created>
  <dcterms:modified xsi:type="dcterms:W3CDTF">2026-06-29T19:23:04Z</dcterms:modified>
</cp:coreProperties>
</file>