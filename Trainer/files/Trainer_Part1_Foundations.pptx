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TRAINER GUIDE — PART 1 OF 3
Covers: Title, Prep, Agenda, Section 01 (Foundations), Section 02 (Automation Fundamentals)
Do not project this file to students. Use TestAutomation_Student.pptx for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BIGGEST RISK: Maven dependencies not downloaded. Run mvn install on every machine in advance — 3-5 min per machine.
SECOND RISK: Demo site not accessible. Test from lab network the evening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09:00 – 09:10
Don't read the agenda aloud. Highlight the rhythm: morning = teaching, afternoon = hands-on. That's the pattern for both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09:10
Say: 'Before we touch any tool — we need to understand what testing actually is. Everything we build this week sits on this foundation.'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09:10 – 09:25  (15 min)
Key message: testing is not about finding bugs — it is about building confidence.
Common misconception: 'Testing is what QA does, not developers.' Push back immediately — everyone owns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09:25 – 09:40  (15 min)
3-4 min per box. Don't get drawn into deep non-functional discussion. Say: 'This is a whole course — today we focus on functional and automated testing.'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09:40 – 09:55  (15 min)
Analogy: Building a house — unit = each brick. Integration = walls hold. System = can you live in it. UAT = client says yes.
BREAK: 09:55 – 10:10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10:10 – 10:30  (20 min — MOST IMPORTANT concept of the morning)
Draw on whiteboard. Then draw it UPSIDE DOWN — that is the ice cream cone. 500 Selenium tests, 2 hours, 30% failures. That is the anti-pattern.
Ask: 'Why more unit tests than E2E?' Let them answer. Expected: speed and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10:30 – 10:45  (15 min)
Key: manual and automated are not enemies — a mature team does both.
Ask: 'If you automate your login test, do you never need to manually test it again?' Answer: still need exploratory — what about an emoji in the password field?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10:45
Say: 'Now that we understand what testing is — let's talk specifically about automation. What is it, what should we automate, and what are the rules professionals follow.'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10:45 – 11:00  (15 min)
Story: '500 regression tests run overnight, results in your inbox before you arrive at work. That is the promise.'
Repeatability is underestimated — human testers skip steps when tired. Automation never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11:00 – 11:15  (15 min)
Story: 'We spent 2 weeks automating checkout. UX redesigned it. All 2 weeks — gone. Feature wasn't stable yet.'
Exercise: show 5 test cases, hands up — automate or not? Instant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11:15 – 11:30  (15 min)
BP 02 example: 'Test 1 creates a user. Test 2 logs in as that user. Looks fine — until test 2 runs first. Fails because user doesn't exist yet. That is a dependent test suite.'
After each BP ask: 'Can anyone think where breaking this rule causes a problem?'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2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AUTOMATION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C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Guide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457200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788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This deck is for the trainer only — not for distribution to students.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218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 </a:t>
            </a:r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student slides  •  Trainer notes  •  Lab answers  •  Timing  •  Common mistakes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6393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deck  </a:t>
            </a:r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TestAutomation_Student.pptx — that file has no trainer content.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TRAINER USE ONLY — Do Not Distribute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PREPARATION GUIDE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Only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TRAINER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2697480" cy="3611880"/>
          </a:xfrm>
          <a:prstGeom prst="roundRect">
            <a:avLst>
              <a:gd name="adj" fmla="val 339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1316736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3167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Day 1 — Evening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17556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Run setup script — verify green ticks on all machines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2311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Check Chrome is installed and up to date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270662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Run mvn install to pre-download dependencies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31821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Verify demo site accessible from lab network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36576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Test Newman: newman --version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413308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Print lab handouts if needed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72968" y="1207008"/>
            <a:ext cx="2697480" cy="3611880"/>
          </a:xfrm>
          <a:prstGeom prst="roundRect">
            <a:avLst>
              <a:gd name="adj" fmla="val 339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82696" y="1316736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13167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— Before 09:00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17556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Open student deck on projector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2311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IDE open with lab project ready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270662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Chrome DevTools open for element demo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1821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Write today's schedule on whiteboard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36576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Confirm all students can access machines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25896" y="1207008"/>
            <a:ext cx="2697480" cy="3611880"/>
          </a:xfrm>
          <a:prstGeom prst="roundRect">
            <a:avLst>
              <a:gd name="adj" fmla="val 3390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35624" y="1316736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13167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Before 09:00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90488" y="175564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Verify mvn test on yesterday's Selenium project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0488" y="223113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Python terminal open: pytest --version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90488" y="270662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Postman open with demo API collection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90488" y="31821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REST Assured project ready in IDE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0488" y="36576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Check demo API is still responding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Preparation Checklist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2 DAY PROGRAMME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00584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05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Foundations &amp; UI Automation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" y="2029968"/>
            <a:ext cx="3767328" cy="100584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" y="2103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Morning — Teaching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" y="239572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Testing? · Test Types &amp; Levels · Testing Pyramid · Automation Fundamentals · Selenium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3108960"/>
            <a:ext cx="3767328" cy="1005840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" y="3182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Afternoon — Lab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" y="34747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Build a Selenium test suite from scratch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9472" y="100584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005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&amp; API Testing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19472" y="2029968"/>
            <a:ext cx="3767328" cy="100584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47488" y="2103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Morning — Teaching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47488" y="239572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 &amp; pytest · REST Assured &amp; Postman · Newman CLI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19472" y="3108960"/>
            <a:ext cx="3767328" cy="1005840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47488" y="3182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Afternoon — Lab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47488" y="34747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Unit tests in Java &amp; Python · API tests in Postman &amp; REST Assured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370832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TRAINER NOTE  —  Opening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'Has anyone written an automated test before?' Gauge the room. 3 minutes max here then move straight to Section 01.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Agenda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what testing is before we automate anything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SOFTWARE TESTING?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Foundations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024128"/>
          </a:xfrm>
          <a:prstGeom prst="roundRect">
            <a:avLst>
              <a:gd name="adj" fmla="val 89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testing is the process of evaluating a system to find whether it meets specified requirements and works as expected — before real users 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48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🐛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Bugs Early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bug found in development costs 10x less to fix than one found in production.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201168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0128" y="2148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10128" y="27249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Users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10128" y="30906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Untested software puts real users at risk — data loss, crashes, security holes.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201168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63056" y="2148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63056" y="27249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Confidence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63056" y="309067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prove the software does what the business needs before it ships.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13308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TRAINER NOTE  —  Engagement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17136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'Has anyone used software that crashed or lost their data?' Let 2-3 people answer. Then: 'That is what happens without testing.' Real examples land better than any slide.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01: Foundations of Testing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Foundations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60520" cy="1810512"/>
          </a:xfrm>
          <a:prstGeom prst="roundRect">
            <a:avLst>
              <a:gd name="adj" fmla="val 505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78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Testing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software do what it should do?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76479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 Login works · Cart calculates · Form validates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807208"/>
            <a:ext cx="4160520" cy="1810512"/>
          </a:xfrm>
          <a:prstGeom prst="roundRect">
            <a:avLst>
              <a:gd name="adj" fmla="val 5051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916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does the software do it?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7033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 Performance · Security · Usability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4160520" cy="1810512"/>
          </a:xfrm>
          <a:prstGeom prst="roundRect">
            <a:avLst>
              <a:gd name="adj" fmla="val 505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978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8888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executes test cases by hand, observes and records results.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176479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 Exploratory · Usability · Ad-hoc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07208"/>
            <a:ext cx="4160520" cy="1810512"/>
          </a:xfrm>
          <a:prstGeom prst="roundRect">
            <a:avLst>
              <a:gd name="adj" fmla="val 505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18888" y="2916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18888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script or tool executes tests automatically without human interaction.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37033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 Regression · Smoke · Unit ·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01: Foundations of Testing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Foundations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438912" cy="658368"/>
          </a:xfrm>
          <a:prstGeom prst="roundRect">
            <a:avLst>
              <a:gd name="adj" fmla="val 1458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9418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3258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 single function or class in isolation. No database, no network, no dependencies.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03720" y="1051560"/>
            <a:ext cx="175564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05156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Developers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856232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947672"/>
            <a:ext cx="438912" cy="658368"/>
          </a:xfrm>
          <a:prstGeom prst="roundRect">
            <a:avLst>
              <a:gd name="adj" fmla="val 1458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4767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1929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3134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how multiple components work together — e.g. a service calling a database.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2039112"/>
            <a:ext cx="175564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03911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Developers / QA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43784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35224"/>
            <a:ext cx="438912" cy="658368"/>
          </a:xfrm>
          <a:prstGeom prst="roundRect">
            <a:avLst>
              <a:gd name="adj" fmla="val 1458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3522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916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30098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the complete application end-to-end as a whole — like a real user would.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03720" y="3026664"/>
            <a:ext cx="175564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02666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QA Engineers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831336"/>
            <a:ext cx="8503920" cy="877824"/>
          </a:xfrm>
          <a:prstGeom prst="roundRect">
            <a:avLst>
              <a:gd name="adj" fmla="val 10417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922776"/>
            <a:ext cx="438912" cy="658368"/>
          </a:xfrm>
          <a:prstGeom prst="roundRect">
            <a:avLst>
              <a:gd name="adj" fmla="val 1458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2277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39044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Testing (UAT)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28853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system meets business requirements. Often done by the client or product team.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03720" y="4014216"/>
            <a:ext cx="175564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401421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Business / Product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01: Foundations of Testing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TESTING PYRAMID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Foundations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474720" y="960120"/>
            <a:ext cx="219456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9601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/ UI 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· Expensive · Few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1828800"/>
            <a:ext cx="3749040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8288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speed · Medium cost · Some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91640" y="2761488"/>
            <a:ext cx="5760720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76148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321868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· Cheap · Many — this is your foundation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11704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your tests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35240" y="21762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your tests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35240" y="30358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your tests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58768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39136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Anti-Pattern — The Ice Cream Cone: Many teams over-rely on E2E tests. They are slow, flaky and expensive. Build unit tests first.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01: Foundations of Testing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vs AUTOMATED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Foundations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023360" cy="3977640"/>
          </a:xfrm>
          <a:prstGeom prst="roundRect">
            <a:avLst>
              <a:gd name="adj" fmla="val 22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 Manual Testing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Strengths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7556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Good for exploratory testing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103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Catches visual &amp; UX issues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4505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setup or scripting needed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7980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Flexible — adapts instantly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Limitations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5112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Slow and repetitive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767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Human error is inevitable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Cannot run overnight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279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Doesn't scale with the product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2148840"/>
            <a:ext cx="731520" cy="7315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868680"/>
            <a:ext cx="4023360" cy="3977640"/>
          </a:xfrm>
          <a:prstGeom prst="roundRect">
            <a:avLst>
              <a:gd name="adj" fmla="val 22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56048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Automated Testing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56048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Strengths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7488" y="17556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Runs thousands of tests fast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47488" y="2103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100% repeatable every time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47488" y="24505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Runs overnight or on every commit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47488" y="27980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Scales as the product grows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56048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Limitations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47488" y="35112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Takes time to write and maintain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47488" y="3767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Cannot test visual/UX quality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47488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Only tests what you tell it to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47488" y="4279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Brittle if code changes often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01: Foundations of Testing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Automation Fundamentals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automate, what not to, and the rules that matter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TEST AUTOMATION?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 •  Automation Fundamentals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144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automation is the use of software tools to execute test cases automatically, compare actual vs expected results, and report outcomes — without human intervention.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48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" y="2029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39572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tests that take 8 hours manually run in under 5 minutes automated.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938528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048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40680" y="2029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239572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test runs identically every time. No human variation, no missed steps.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29184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51560" y="3383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490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your product grows, your test suite grows — not your headcount.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40680" y="3383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Feedback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7490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know within minutes if their code broke something.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02: Automation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AUTOMATE — AND WHAT NOT 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 •  Automation Fundamentals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069080" cy="3913632"/>
          </a:xfrm>
          <a:prstGeom prst="roundRect">
            <a:avLst>
              <a:gd name="adj" fmla="val 2336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Automate This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Regression tests — run on every build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892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Smoke tests — is the system alive?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3682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Repetitive data-driven test cases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8437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Tests that run more than once a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319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Stable features that don't change often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API and unit level tests always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4069080" cy="3913632"/>
          </a:xfrm>
          <a:prstGeom prst="roundRect">
            <a:avLst>
              <a:gd name="adj" fmla="val 233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960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Don't Automate This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Features that change every sprint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0328" y="1892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One-time or exploratory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0328" y="23682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Tests for features not yet stable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0328" y="28437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Pure visual / UX validation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0328" y="3319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Tests that are hard to reproduce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0328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Anything faster to run than to script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02: Automation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TEST AUTOMATION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 •  Automation Fundamentals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607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607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005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Never automate what isn't stable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081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feature changes frequently, automation breaks constantly and wastes more time than it saves. Automate last.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4323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323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Every test must be independent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797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test should rely on another running before it. If test 5 needs test 3 first, you have a design problem, not a test problem.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8039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039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Automate repetitive and high-value first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1513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tests that run most often and protect critical functionality — login, checkout, core APIs.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Guide  —  Section 02: Automation Fundamentals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Trainer Guide Part 1</dc:title>
  <dc:subject>PptxGenJS Presentation</dc:subject>
  <dc:creator>PptxGenJS</dc:creator>
  <cp:lastModifiedBy>PptxGenJS</cp:lastModifiedBy>
  <cp:revision>1</cp:revision>
  <dcterms:created xsi:type="dcterms:W3CDTF">2026-06-29T19:16:07Z</dcterms:created>
  <dcterms:modified xsi:type="dcterms:W3CDTF">2026-06-29T19:16:07Z</dcterms:modified>
</cp:coreProperties>
</file>