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98080" y="3474720"/>
            <a:ext cx="2286000" cy="2286000"/>
          </a:xfrm>
          <a:prstGeom prst="ellipse">
            <a:avLst/>
          </a:prstGeom>
          <a:solidFill>
            <a:srgbClr val="2563EB">
              <a:alpha val="10000"/>
            </a:srgbClr>
          </a:solidFill>
          <a:ln w="12700">
            <a:solidFill>
              <a:srgbClr val="2563EB">
                <a:alpha val="1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82296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AUTOMATION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594360" y="182880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BAE6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Programme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94360" y="2670048"/>
            <a:ext cx="4572000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8346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 </a:t>
            </a:r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Selenium  •  JUnit 5  •  pytest  •  REST Assured  •  Postman  •  Newman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94360" y="32461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 </a:t>
            </a:r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10 / 11  •  Java 17  •  Python 3.11  •  Node.js 20 LTS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94360" y="36576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Duration  </a:t>
            </a:r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Days  •  Morning Teaching  •  Afternoon Labs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7731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Training Material  —  Not for Distribution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— 2 DAY PROGRAMME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4114800" cy="3822192"/>
          </a:xfrm>
          <a:prstGeom prst="roundRect">
            <a:avLst>
              <a:gd name="adj" fmla="val 23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84632" y="1005840"/>
            <a:ext cx="1005840" cy="384048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0058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4632" y="14630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Foundations &amp; UI Automation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84632" y="2029968"/>
            <a:ext cx="3767328" cy="1170432"/>
          </a:xfrm>
          <a:prstGeom prst="roundRect">
            <a:avLst>
              <a:gd name="adj" fmla="val 781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" y="21031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  Morning — Teaching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12648" y="2395728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Morning: What is Testing? Test Types &amp; Levels · Testing Pyramid · Test Automation Fundamentals · Selenium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84632" y="3291840"/>
            <a:ext cx="3767328" cy="1078992"/>
          </a:xfrm>
          <a:prstGeom prst="roundRect">
            <a:avLst>
              <a:gd name="adj" fmla="val 8475"/>
            </a:avLst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12648" y="336499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🔬  Afternoon — Lab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12648" y="3657600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Afternoon Lab: Build a Selenium test suite from scratch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868680"/>
            <a:ext cx="4114800" cy="3822192"/>
          </a:xfrm>
          <a:prstGeom prst="roundRect">
            <a:avLst>
              <a:gd name="adj" fmla="val 239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19472" y="1005840"/>
            <a:ext cx="1005840" cy="384048"/>
          </a:xfrm>
          <a:prstGeom prst="roundRect">
            <a:avLst>
              <a:gd name="adj" fmla="val 14286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9472" y="100584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19472" y="146304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Testing &amp; API Testing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919472" y="2029968"/>
            <a:ext cx="3767328" cy="1170432"/>
          </a:xfrm>
          <a:prstGeom prst="roundRect">
            <a:avLst>
              <a:gd name="adj" fmla="val 7813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047488" y="210312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  Morning — Teaching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047488" y="2395728"/>
            <a:ext cx="3520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Morning: Unit Testing with JUnit 5 &amp; pytest · API Testing with REST Assured &amp; Postman · Newman CLI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919472" y="3291840"/>
            <a:ext cx="3767328" cy="1078992"/>
          </a:xfrm>
          <a:prstGeom prst="roundRect">
            <a:avLst>
              <a:gd name="adj" fmla="val 8475"/>
            </a:avLst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047488" y="3364992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🔬  Afternoon — Lab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047488" y="3657600"/>
            <a:ext cx="35204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Afternoon Lab: Write unit tests in Java &amp; Python · API tests in Postman &amp; REST Assured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Automation Training Programme  —  2 Days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 of Testing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what testing is before we automate anything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SOFTWARE TESTING?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01  •  Foundations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1024128"/>
          </a:xfrm>
          <a:prstGeom prst="roundRect">
            <a:avLst>
              <a:gd name="adj" fmla="val 8929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914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testing is the process of evaluating a system to find whether it meets specified requirements and works as expected — before real users do.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" y="2011680"/>
            <a:ext cx="2697480" cy="2606040"/>
          </a:xfrm>
          <a:prstGeom prst="roundRect">
            <a:avLst>
              <a:gd name="adj" fmla="val 350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21488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🐛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7200" y="269748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Bugs Early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7200" y="3072384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bug found in development costs 10x less to fix than one found in production.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72968" y="2011680"/>
            <a:ext cx="2697480" cy="2606040"/>
          </a:xfrm>
          <a:prstGeom prst="roundRect">
            <a:avLst>
              <a:gd name="adj" fmla="val 350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10128" y="21488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🛡️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310128" y="269748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Users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310128" y="3072384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Untested software puts real users at risk — data loss, crashes, security holes.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25896" y="2011680"/>
            <a:ext cx="2697480" cy="2606040"/>
          </a:xfrm>
          <a:prstGeom prst="roundRect">
            <a:avLst>
              <a:gd name="adj" fmla="val 350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63056" y="214884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✅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163056" y="269748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Confidence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163056" y="3072384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prove the software does what the business needs before it ships.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Automation Training Programme  —  Section 01: Foundations of Testing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TESTING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01  •  Foundations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4160520" cy="182880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" y="9784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Functional Testing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" y="134416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the software do what it should do?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1746504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e.g.  Login works · Cart calculates correctly · Form validates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0040" y="2880360"/>
            <a:ext cx="4160520" cy="1828800"/>
          </a:xfrm>
          <a:prstGeom prst="roundRect">
            <a:avLst>
              <a:gd name="adj" fmla="val 5000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" y="29900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Non-Functional Testing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" y="335584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well does the software do it?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" y="3758184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e.g.  Performance · Security · Usability · Compatibility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63440" y="868680"/>
            <a:ext cx="4160520" cy="1828800"/>
          </a:xfrm>
          <a:prstGeom prst="roundRect">
            <a:avLst>
              <a:gd name="adj" fmla="val 5000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18888" y="9784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Testing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18888" y="134416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human executes test cases by hand, observes and records results.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18888" y="1746504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e.g.  Exploratory · Usability · Ad-hoc testing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63440" y="2880360"/>
            <a:ext cx="4160520" cy="1828800"/>
          </a:xfrm>
          <a:prstGeom prst="roundRect">
            <a:avLst>
              <a:gd name="adj" fmla="val 5000"/>
            </a:avLst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18888" y="29900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Testing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18888" y="335584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script or tool executes tests automatically without human interaction.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18888" y="3758184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e.g.  Regression · Smoke · Unit · API testing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Automation Training Programme  —  Section 01: Foundations of Testing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LEVELS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01  •  Foundations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914400"/>
          </a:xfrm>
          <a:prstGeom prst="roundRect">
            <a:avLst>
              <a:gd name="adj" fmla="val 10000"/>
            </a:avLst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978408"/>
            <a:ext cx="438912" cy="658368"/>
          </a:xfrm>
          <a:prstGeom prst="roundRect">
            <a:avLst>
              <a:gd name="adj" fmla="val 14583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78408"/>
            <a:ext cx="438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9601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Testing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1307592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a single function or class in isolation. No database, no network, no dependencies.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903720" y="1051560"/>
            <a:ext cx="1755648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03720" y="1051560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 Developers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1892808"/>
            <a:ext cx="8503920" cy="91440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002536"/>
            <a:ext cx="438912" cy="658368"/>
          </a:xfrm>
          <a:prstGeom prst="roundRect">
            <a:avLst>
              <a:gd name="adj" fmla="val 1458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002536"/>
            <a:ext cx="438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1984248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 Testing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2331720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how multiple components work together — e.g. a service calling a database.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903720" y="2075688"/>
            <a:ext cx="1755648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03720" y="2075688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 Developers / QA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2916936"/>
            <a:ext cx="8503920" cy="914400"/>
          </a:xfrm>
          <a:prstGeom prst="roundRect">
            <a:avLst>
              <a:gd name="adj" fmla="val 10000"/>
            </a:avLst>
          </a:prstGeom>
          <a:solidFill>
            <a:srgbClr val="EDE9FE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026664"/>
            <a:ext cx="438912" cy="658368"/>
          </a:xfrm>
          <a:prstGeom prst="roundRect">
            <a:avLst>
              <a:gd name="adj" fmla="val 1458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026664"/>
            <a:ext cx="438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3008376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Testing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05840" y="3355848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the complete application end-to-end as a whole — like a real user would.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903720" y="3099816"/>
            <a:ext cx="1755648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03720" y="3099816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 QA Engineers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" y="3941064"/>
            <a:ext cx="8503920" cy="91440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7200" y="4050792"/>
            <a:ext cx="438912" cy="658368"/>
          </a:xfrm>
          <a:prstGeom prst="roundRect">
            <a:avLst>
              <a:gd name="adj" fmla="val 14583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050792"/>
            <a:ext cx="4389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05840" y="4032504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Acceptance Testing (UAT)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05840" y="4379976"/>
            <a:ext cx="5303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Confirms the system meets business requirements. Often done by the client or product team.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903720" y="4123944"/>
            <a:ext cx="1755648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03720" y="4123944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 Business / Product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Automation Training Programme  —  Section 01: Foundations of Testing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TESTING PYRAMID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01  •  Foundations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474720" y="960120"/>
            <a:ext cx="2194560" cy="80467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0" y="960120"/>
            <a:ext cx="2194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E2E / UI Tests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74720" y="14173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· Expensive · Few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97480" y="1810512"/>
            <a:ext cx="3749040" cy="8686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97480" y="1810512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Tests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97480" y="226771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DE6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speed · Medium cost · Some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1691640" y="2724912"/>
            <a:ext cx="5760720" cy="10241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91640" y="2724912"/>
            <a:ext cx="5760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Tests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691640" y="3182112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7F3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· Cheap · Many — this is your foundation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635240" y="11430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10–20%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your tests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635240" y="214884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20–30%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your tests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635240" y="301752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50–70%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your tests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3858768"/>
            <a:ext cx="8503920" cy="804672"/>
          </a:xfrm>
          <a:prstGeom prst="roundRect">
            <a:avLst>
              <a:gd name="adj" fmla="val 11364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" y="3931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 Anti-Pattern — The Ice Cream Cone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" y="42245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teams rely too heavily on E2E tests. They are slow, flaky and expensive to maintain. Build your foundation with unit tests first.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Automation Training Programme  —  Section 01: Foundations of Testing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vs AUTOMATED TESTING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01  •  Foundations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4023360" cy="3840480"/>
          </a:xfrm>
          <a:prstGeom prst="roundRect">
            <a:avLst>
              <a:gd name="adj" fmla="val 238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" y="9601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755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👤  Manual Testing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75488" y="144475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Strengths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177393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Good for exploratory testing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66928" y="212140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Catches visual &amp; UX issues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66928" y="246888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No setup or scripting needed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66928" y="28163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Flexible — adapts instantly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5488" y="318211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Limitations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" y="351129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Slow and repetitive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66928" y="376732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Human error is inevitable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66928" y="402336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Cannot run overnight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66928" y="427939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Doesn't scale with the product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206240" y="2103120"/>
            <a:ext cx="731520" cy="731520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06240" y="2103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00600" y="868680"/>
            <a:ext cx="4023360" cy="3840480"/>
          </a:xfrm>
          <a:prstGeom prst="roundRect">
            <a:avLst>
              <a:gd name="adj" fmla="val 238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956048" y="9601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🤖  Automated Testing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956048" y="144475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Strengths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47488" y="1773936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Runs thousands of tests fast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47488" y="2121408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100% repeatable every time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047488" y="2468880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Runs overnight or on every commit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047488" y="2816352"/>
            <a:ext cx="3474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Scales as the product grows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956048" y="3182112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Limitations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47488" y="351129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Takes time to write and maintain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047488" y="376732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Cannot test visual/UX quality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047488" y="402336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Only tests what you tell it to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047488" y="427939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Brittle if code changes often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Automation Training Programme  —  Section 01: Foundations of Testing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2563EB">
              <a:alpha val="10000"/>
            </a:srgbClr>
          </a:solidFill>
          <a:ln w="12700">
            <a:solidFill>
              <a:srgbClr val="2563EB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Automation Fundamentals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automate, what not to, and the rules that matter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TEST AUTOMATION?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02  •  Automation Fundamentals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896112"/>
          </a:xfrm>
          <a:prstGeom prst="roundRect">
            <a:avLst>
              <a:gd name="adj" fmla="val 10204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914400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automation is the use of software tools to execute test cases automatically, compare actual vs expected results, and report outcomes — without human intervention.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20040" y="1938528"/>
            <a:ext cx="4114800" cy="1261872"/>
          </a:xfrm>
          <a:prstGeom prst="roundRect">
            <a:avLst>
              <a:gd name="adj" fmla="val 724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20482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51560" y="202996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2395728"/>
            <a:ext cx="3246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suite of 500 tests that takes 8 hours manually runs in under 5 minutes automated.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09160" y="1938528"/>
            <a:ext cx="4114800" cy="1261872"/>
          </a:xfrm>
          <a:prstGeom prst="roundRect">
            <a:avLst>
              <a:gd name="adj" fmla="val 724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0" y="20482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🔁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440680" y="202996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Repeatability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40680" y="2395728"/>
            <a:ext cx="3246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test runs identically every time. No human variation, no missed steps.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3355848"/>
            <a:ext cx="4114800" cy="1261872"/>
          </a:xfrm>
          <a:prstGeom prst="roundRect">
            <a:avLst>
              <a:gd name="adj" fmla="val 724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34655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051560" y="344728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Scalability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3813048"/>
            <a:ext cx="3246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your product grows, your test suite grows with it — not your team headcount.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9160" y="3355848"/>
            <a:ext cx="4114800" cy="1261872"/>
          </a:xfrm>
          <a:prstGeom prst="roundRect">
            <a:avLst>
              <a:gd name="adj" fmla="val 724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46320" y="34655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440680" y="3447288"/>
            <a:ext cx="3246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Feedback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40680" y="3813048"/>
            <a:ext cx="3246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Developers know within minutes if their code broke something, not days later.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Automation Training Programme  —  Section 02: Automation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AUTOMATE — AND WHAT NOT TO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02  •  Automation Fundamentals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4069080" cy="3858768"/>
          </a:xfrm>
          <a:prstGeom prst="roundRect">
            <a:avLst>
              <a:gd name="adj" fmla="val 2370"/>
            </a:avLst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" y="96012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 Automate This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" y="14173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Regression tests — run on every build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189280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Smoke tests — is the system alive?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" y="2368296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Repetitive data-driven test cases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" y="2843784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Tests that run more than once a week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75488" y="331927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Stable features that don't change often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" y="37947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API and unit level tests always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54880" y="868680"/>
            <a:ext cx="4069080" cy="3858768"/>
          </a:xfrm>
          <a:prstGeom prst="roundRect">
            <a:avLst>
              <a:gd name="adj" fmla="val 2370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10328" y="96012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❌  Don't Automate This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10328" y="14173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Features that change every sprint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10328" y="189280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One-time or exploratory tests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10328" y="2368296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Tests for features not yet stable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10328" y="2843784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Pure visual / UX validation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10328" y="3319272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Tests that are hard to reproduce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10328" y="37947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Anything that takes longer to script than run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Automation Training Programme  —  Section 02: Automation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 — TEST AUTOMATION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02  •  Automation Fundamentals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8503920" cy="118872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5488" y="1005840"/>
            <a:ext cx="502920" cy="914400"/>
          </a:xfrm>
          <a:prstGeom prst="roundRect">
            <a:avLst>
              <a:gd name="adj" fmla="val 12727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00584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15568" y="98755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Never automate what isn't stable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15568" y="1389888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 feature is still being designed or changes frequently, automation will break constantly and waste more time than it saves. Automate last.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221992"/>
            <a:ext cx="8503920" cy="118872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" y="2331720"/>
            <a:ext cx="502920" cy="914400"/>
          </a:xfrm>
          <a:prstGeom prst="roundRect">
            <a:avLst>
              <a:gd name="adj" fmla="val 1272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33172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15568" y="231343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Every test must be independent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15568" y="2715768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test should rely on another test running before it. If test 5 needs test 3 to pass first, you have a design problem, not a test problem.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547872"/>
            <a:ext cx="8503920" cy="118872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" y="3657600"/>
            <a:ext cx="502920" cy="914400"/>
          </a:xfrm>
          <a:prstGeom prst="roundRect">
            <a:avLst>
              <a:gd name="adj" fmla="val 12727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365760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15568" y="363931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Automate repetitive and high-value first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15568" y="4041648"/>
            <a:ext cx="73152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with the tests that run most often and protect the most critical functionality. Login, checkout, core APIs — these are your first targets.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Automation Training Programme  —  Section 02: Automation Fundamentals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2563EB">
              <a:alpha val="10000"/>
            </a:srgbClr>
          </a:solidFill>
          <a:ln w="12700">
            <a:solidFill>
              <a:srgbClr val="2563EB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Automation with Selenium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your first browser automation tests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SELENIUM WORKS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03  •  Selenium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960120"/>
            <a:ext cx="1965960" cy="1325880"/>
          </a:xfrm>
          <a:prstGeom prst="roundRect">
            <a:avLst>
              <a:gd name="adj" fmla="val 6897"/>
            </a:avLst>
          </a:prstGeom>
          <a:solidFill>
            <a:srgbClr val="F0F4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11480" y="1078992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Test Code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62763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/ Python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13432" y="1527048"/>
            <a:ext cx="475488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138988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563EB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487168" y="960120"/>
            <a:ext cx="1965960" cy="1325880"/>
          </a:xfrm>
          <a:prstGeom prst="roundRect">
            <a:avLst>
              <a:gd name="adj" fmla="val 6897"/>
            </a:avLst>
          </a:prstGeom>
          <a:solidFill>
            <a:srgbClr val="F0F4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78608" y="1078992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Selenium WebDriver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78608" y="162763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W3C Protocol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480560" y="1527048"/>
            <a:ext cx="475488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53128" y="138988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563EB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645152" y="960120"/>
            <a:ext cx="1965960" cy="1325880"/>
          </a:xfrm>
          <a:prstGeom prst="roundRect">
            <a:avLst>
              <a:gd name="adj" fmla="val 6897"/>
            </a:avLst>
          </a:prstGeom>
          <a:solidFill>
            <a:srgbClr val="F0F4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36592" y="1078992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Browser Driver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36592" y="162763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ChromeDriver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638544" y="1527048"/>
            <a:ext cx="475488" cy="731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11112" y="138988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563EB"/>
                </a:solidFill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812280" y="960120"/>
            <a:ext cx="1965960" cy="1325880"/>
          </a:xfrm>
          <a:prstGeom prst="roundRect">
            <a:avLst>
              <a:gd name="adj" fmla="val 6897"/>
            </a:avLst>
          </a:prstGeom>
          <a:solidFill>
            <a:srgbClr val="F0F4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903720" y="1078992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Chrome Browser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03720" y="162763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Browser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2487168"/>
            <a:ext cx="8503920" cy="804672"/>
          </a:xfrm>
          <a:prstGeom prst="roundRect">
            <a:avLst>
              <a:gd name="adj" fmla="val 11364"/>
            </a:avLst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75488" y="25603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Selenium Manager (v4.6+)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75488" y="28529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Selenium 4.6+ includes Selenium Manager which automatically downloads the correct browser driver version. No manual ChromeDriver setup needed.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0040" y="3401568"/>
            <a:ext cx="2697480" cy="1353312"/>
          </a:xfrm>
          <a:prstGeom prst="roundRect">
            <a:avLst>
              <a:gd name="adj" fmla="val 67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75488" y="3493008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WebDriver Interface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75488" y="3858768"/>
            <a:ext cx="23957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Selenium's core API. Provides methods like findElement(), click(), sendKeys(), navigate().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172968" y="3401568"/>
            <a:ext cx="2697480" cy="1353312"/>
          </a:xfrm>
          <a:prstGeom prst="roundRect">
            <a:avLst>
              <a:gd name="adj" fmla="val 67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328416" y="3493008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Locators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3328416" y="3858768"/>
            <a:ext cx="23957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Selenium finds elements on the page — by ID, CSS selector, XPath, name, tag, class.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025896" y="3401568"/>
            <a:ext cx="2697480" cy="1353312"/>
          </a:xfrm>
          <a:prstGeom prst="roundRect">
            <a:avLst>
              <a:gd name="adj" fmla="val 67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181344" y="3493008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Assertions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181344" y="3858768"/>
            <a:ext cx="239572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you verify the result — check page title, element text, URL, visibility.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Automation Training Programme  —  Section 03: Selenium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FIRST SELENIUM TEST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03  •  Selenium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5349240" cy="4005072"/>
          </a:xfrm>
          <a:prstGeom prst="roundRect">
            <a:avLst>
              <a:gd name="adj" fmla="val 228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960120"/>
            <a:ext cx="5047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Java + Selenium + JUnit 5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1261872"/>
            <a:ext cx="5047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@Test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421892"/>
            <a:ext cx="5047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void loginTest() {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02920" y="1581912"/>
            <a:ext cx="5047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WebDriver driver =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02920" y="1741932"/>
            <a:ext cx="5047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ChromeDriver();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02920" y="2061972"/>
            <a:ext cx="5047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driver.get(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2221992"/>
            <a:ext cx="5047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"https://demo.site/login"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02920" y="2382012"/>
            <a:ext cx="5047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2702052"/>
            <a:ext cx="5047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driver.findElement(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02920" y="2862072"/>
            <a:ext cx="5047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By.id("username")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3022092"/>
            <a:ext cx="5047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).sendKeys("testuser");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" y="3342132"/>
            <a:ext cx="5047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driver.findElement(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02920" y="3502152"/>
            <a:ext cx="5047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By.id("loginBtn")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2920" y="3662172"/>
            <a:ext cx="5047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).click();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2920" y="3982212"/>
            <a:ext cx="5047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assertEquals("Dashboard",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02920" y="4142232"/>
            <a:ext cx="5047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driver.getTitle());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" y="4302252"/>
            <a:ext cx="5047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driver.quit();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2920" y="4462272"/>
            <a:ext cx="50474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833872" y="960120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33872" y="960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199632" y="960120"/>
            <a:ext cx="2633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@Test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199632" y="1188720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Marks this method as a test case for JUnit to run.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833872" y="1572768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33872" y="15727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199632" y="1572768"/>
            <a:ext cx="2633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ChromeDriver()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199632" y="1801368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 a real Chrome browser window.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833872" y="2286000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33872" y="2286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199632" y="2286000"/>
            <a:ext cx="2633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driver.get()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199632" y="2514600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Navigates to the URL — like typing it in the address bar.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833872" y="2880360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33872" y="2880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199632" y="2880360"/>
            <a:ext cx="2633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findElement()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199632" y="3108960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Locates an element on the page by its ID.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833872" y="3364992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33872" y="33649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199632" y="3364992"/>
            <a:ext cx="2633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assertEquals()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199632" y="3593592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Verifies the page title matches what we expect.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833872" y="3840480"/>
            <a:ext cx="292608" cy="29260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8338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199632" y="3840480"/>
            <a:ext cx="26334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driver.quit()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199632" y="4069080"/>
            <a:ext cx="2633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Closes the browser. Always clean up after your test.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Automation Training Programme  —  Section 03: Selenium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LOCATORS — FINDING ELEMENTS ON THE PAGE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03  •  Selenium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896112"/>
          </a:xfrm>
          <a:prstGeom prst="roundRect">
            <a:avLst>
              <a:gd name="adj" fmla="val 10204"/>
            </a:avLst>
          </a:prstGeom>
          <a:solidFill>
            <a:srgbClr val="ECFDF5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38912" y="978408"/>
            <a:ext cx="1078992" cy="658368"/>
          </a:xfrm>
          <a:prstGeom prst="roundRect">
            <a:avLst>
              <a:gd name="adj" fmla="val 8333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978408"/>
            <a:ext cx="1078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627632" y="96012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By.id()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627632" y="132588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By.id("loginBtn")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983480" y="1069848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IDs are unique per page — fastest and most reliable.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1874520"/>
            <a:ext cx="8503920" cy="896112"/>
          </a:xfrm>
          <a:prstGeom prst="roundRect">
            <a:avLst>
              <a:gd name="adj" fmla="val 10204"/>
            </a:avLst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8912" y="1984248"/>
            <a:ext cx="1078992" cy="658368"/>
          </a:xfrm>
          <a:prstGeom prst="roundRect">
            <a:avLst>
              <a:gd name="adj" fmla="val 833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1984248"/>
            <a:ext cx="1078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627632" y="196596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By.cssSelector()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627632" y="233172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By.cssSelector(".btn-login")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983480" y="2075688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selectors are fast and widely supported. Preferred over XPath.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2880360"/>
            <a:ext cx="8503920" cy="896112"/>
          </a:xfrm>
          <a:prstGeom prst="roundRect">
            <a:avLst>
              <a:gd name="adj" fmla="val 10204"/>
            </a:avLst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38912" y="2990088"/>
            <a:ext cx="1078992" cy="658368"/>
          </a:xfrm>
          <a:prstGeom prst="roundRect">
            <a:avLst>
              <a:gd name="adj" fmla="val 8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2990088"/>
            <a:ext cx="1078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when needed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627632" y="297180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By.name()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627632" y="33375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By.name("username")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983480" y="3081528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for form inputs that have a name attribute.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3886200"/>
            <a:ext cx="8503920" cy="896112"/>
          </a:xfrm>
          <a:prstGeom prst="roundRect">
            <a:avLst>
              <a:gd name="adj" fmla="val 10204"/>
            </a:avLst>
          </a:prstGeom>
          <a:solidFill>
            <a:srgbClr val="FEF3C7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38912" y="3995928"/>
            <a:ext cx="1078992" cy="658368"/>
          </a:xfrm>
          <a:prstGeom prst="roundRect">
            <a:avLst>
              <a:gd name="adj" fmla="val 8333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3995928"/>
            <a:ext cx="10789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resort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627632" y="397764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By.xpath()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627632" y="43434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By.xpath("//button[@type='submit']")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983480" y="4087368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Powerful but brittle. Avoid absolute XPath — it breaks on any DOM change.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320040" y="4572000"/>
            <a:ext cx="8503920" cy="384048"/>
          </a:xfrm>
          <a:prstGeom prst="roundRect">
            <a:avLst>
              <a:gd name="adj" fmla="val 23810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75488" y="460857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 Golden Rule:  ID first → CSS selector second → XPath only when there is no other option.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Automation Training Programme  —  Section 03: Selenium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 — SELENIUM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03  •  Selenium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8503920" cy="118872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5488" y="1033272"/>
            <a:ext cx="475488" cy="868680"/>
          </a:xfrm>
          <a:prstGeom prst="roundRect">
            <a:avLst>
              <a:gd name="adj" fmla="val 13462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033272"/>
            <a:ext cx="475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987552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Prefer CSS selectors over XPath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1389888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selectors are faster to execute and easier to read. XPath is powerful but brittle — absolute XPath breaks the moment someone adds a div to the page.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221992"/>
            <a:ext cx="8503920" cy="118872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" y="2359152"/>
            <a:ext cx="475488" cy="868680"/>
          </a:xfrm>
          <a:prstGeom prst="roundRect">
            <a:avLst>
              <a:gd name="adj" fmla="val 13462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359152"/>
            <a:ext cx="475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2313432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Each test must be fully independent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2715768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rely on a previous test having run, having created data, or having left the browser in a certain state. Each test sets up and tears down its own environment.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547872"/>
            <a:ext cx="8503920" cy="118872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" y="3685032"/>
            <a:ext cx="475488" cy="868680"/>
          </a:xfrm>
          <a:prstGeom prst="roundRect">
            <a:avLst>
              <a:gd name="adj" fmla="val 13462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3685032"/>
            <a:ext cx="475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3639312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Always call driver.quit() at the end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" y="4041648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 don't close the browser after your test, you leak memory and leave browser processes running. Use @AfterEach in JUnit to guarantee cleanup even if the test fails.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Automation Training Programme  —  Section 03: Selenium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731520"/>
            <a:ext cx="3840480" cy="3840480"/>
          </a:xfrm>
          <a:prstGeom prst="ellipse">
            <a:avLst/>
          </a:prstGeom>
          <a:solidFill>
            <a:srgbClr val="059669">
              <a:alpha val="8000"/>
            </a:srgbClr>
          </a:solidFill>
          <a:ln w="12700">
            <a:solidFill>
              <a:srgbClr val="059669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6576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🔬  LAB 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804672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Selenium Test Suite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594360" y="1664208"/>
            <a:ext cx="4114800" cy="2743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847088"/>
            <a:ext cx="292608" cy="29260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8470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" y="1847088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up a Maven project with Selenium 4.18.1 and JUnit 5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2322576"/>
            <a:ext cx="292608" cy="29260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3225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2322576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Navigate to the demo login page provided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" y="2798064"/>
            <a:ext cx="292608" cy="29260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798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05840" y="2798064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Test 1 — Successful login with valid credentials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" y="3273552"/>
            <a:ext cx="292608" cy="29260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273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05840" y="3273552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Test 2 — Failed login with wrong password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94360" y="3749040"/>
            <a:ext cx="292608" cy="29260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05840" y="3749040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Test 3 — Empty username field validation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94360" y="4224528"/>
            <a:ext cx="292608" cy="29260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42245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05840" y="4224528"/>
            <a:ext cx="6858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all 3 tests and confirm they pass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94360" y="4617720"/>
            <a:ext cx="4114800" cy="384048"/>
          </a:xfrm>
          <a:prstGeom prst="roundRect">
            <a:avLst>
              <a:gd name="adj" fmla="val 16667"/>
            </a:avLst>
          </a:prstGeom>
          <a:solidFill>
            <a:srgbClr val="059669">
              <a:alpha val="20000"/>
            </a:srgbClr>
          </a:solidFill>
          <a:ln w="12700">
            <a:solidFill>
              <a:srgbClr val="059669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462686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 Duration: 13:30 – 15:00  •  Day 1 Afternoon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COMING IN MID-LEVEL TRAINING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Next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566928"/>
          </a:xfrm>
          <a:prstGeom prst="roundRect">
            <a:avLst>
              <a:gd name="adj" fmla="val 16129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now know how to write Selenium tests. In mid-level training you will take this further: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572768"/>
            <a:ext cx="2697480" cy="3035808"/>
          </a:xfrm>
          <a:prstGeom prst="roundRect">
            <a:avLst>
              <a:gd name="adj" fmla="val 339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🏗️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75488" y="228600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 Object Model (POM)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75488" y="2816352"/>
            <a:ext cx="242316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structure Selenium tests properly for real projects — separating test logic from page interaction.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72968" y="1572768"/>
            <a:ext cx="2697480" cy="3035808"/>
          </a:xfrm>
          <a:prstGeom prst="roundRect">
            <a:avLst>
              <a:gd name="adj" fmla="val 339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28416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🥒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328416" y="228600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BDD &amp; Cucumber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328416" y="2816352"/>
            <a:ext cx="242316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tests in plain English using Gherkin so the whole team — including non-developers — can read and write them.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25896" y="1572768"/>
            <a:ext cx="2697480" cy="3035808"/>
          </a:xfrm>
          <a:prstGeom prst="roundRect">
            <a:avLst>
              <a:gd name="adj" fmla="val 339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81344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181344" y="228600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Automation — Appium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181344" y="2816352"/>
            <a:ext cx="242316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Extending your Selenium skills to automate iOS and Android mobile applications.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Automation Training Programme  —  End of Section 03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7C3AED">
              <a:alpha val="10000"/>
            </a:srgbClr>
          </a:solidFill>
          <a:ln w="12700">
            <a:solidFill>
              <a:srgbClr val="7C3AED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Testing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JUnit 5 in Java and pytest in Python — side by side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UNIT TESTING?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04  •  Unit Testing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804672"/>
          </a:xfrm>
          <a:prstGeom prst="roundRect">
            <a:avLst>
              <a:gd name="adj" fmla="val 11364"/>
            </a:avLst>
          </a:prstGeom>
          <a:solidFill>
            <a:srgbClr val="EDE9FE"/>
          </a:solidFill>
          <a:ln w="12700">
            <a:solidFill>
              <a:srgbClr val="C4B5F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" y="91440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unit test verifies that a single, isolated piece of code — one function or one class method — behaves correctly for a given input.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20040" y="1828800"/>
            <a:ext cx="4114800" cy="1261872"/>
          </a:xfrm>
          <a:prstGeom prst="roundRect">
            <a:avLst>
              <a:gd name="adj" fmla="val 724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938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🔬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69848" y="1920240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69848" y="2286000"/>
            <a:ext cx="32186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database. No network. No file system. Mock everything external so you are only testing the logic of that one function.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09160" y="1828800"/>
            <a:ext cx="4114800" cy="1261872"/>
          </a:xfrm>
          <a:prstGeom prst="roundRect">
            <a:avLst>
              <a:gd name="adj" fmla="val 724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0" y="19385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458968" y="1920240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58968" y="2286000"/>
            <a:ext cx="32186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tests run in milliseconds. A suite of 1000 unit tests should finish in under 10 seconds.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3246120"/>
            <a:ext cx="4114800" cy="1261872"/>
          </a:xfrm>
          <a:prstGeom prst="roundRect">
            <a:avLst>
              <a:gd name="adj" fmla="val 724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3355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📍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069848" y="3337560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69848" y="3703320"/>
            <a:ext cx="32186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 unit test fails, you know exactly which function broke. No detective work needed.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9160" y="3246120"/>
            <a:ext cx="4114800" cy="1261872"/>
          </a:xfrm>
          <a:prstGeom prst="roundRect">
            <a:avLst>
              <a:gd name="adj" fmla="val 724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46320" y="33558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📄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458968" y="3337560"/>
            <a:ext cx="32186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58968" y="3703320"/>
            <a:ext cx="32186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unit tests show how a function is supposed to be used — they are living documentation of your code.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Automation Training Programme  —  Section 04: Unit Testing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TESTING WITH JUNIT 5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04  •  Unit Testing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5074920" cy="4005072"/>
          </a:xfrm>
          <a:prstGeom prst="roundRect">
            <a:avLst>
              <a:gd name="adj" fmla="val 228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" y="960120"/>
            <a:ext cx="4773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JUnit 5 — Java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75488" y="1261872"/>
            <a:ext cx="4773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org.junit.jupiter.api.*;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5488" y="1569110"/>
            <a:ext cx="4773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CalculatorTest {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75488" y="1876349"/>
            <a:ext cx="4773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@BeforeEach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5488" y="2029968"/>
            <a:ext cx="4773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 setup() {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5488" y="2183587"/>
            <a:ext cx="4773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runs before each test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5488" y="2337206"/>
            <a:ext cx="4773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5488" y="2644445"/>
            <a:ext cx="4773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@Test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5488" y="2798064"/>
            <a:ext cx="4773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 addsTwoNumbers() {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5488" y="2951683"/>
            <a:ext cx="4773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Calculator calc =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5488" y="3105302"/>
            <a:ext cx="4773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new Calculator();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5488" y="3258922"/>
            <a:ext cx="4773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result = calc.add(2, 3);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5488" y="3412541"/>
            <a:ext cx="4773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assertEquals(5, result);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5488" y="3566160"/>
            <a:ext cx="4773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5488" y="3873398"/>
            <a:ext cx="4773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@AfterEach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5488" y="4027018"/>
            <a:ext cx="4773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void teardown() {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5488" y="4180637"/>
            <a:ext cx="4773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runs after each test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5488" y="4334256"/>
            <a:ext cx="4773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5488" y="4487875"/>
            <a:ext cx="47731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577840" y="896112"/>
            <a:ext cx="3246120" cy="6858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715000" y="94183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@BeforeEach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715000" y="121615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before every @Test method. Use for setup — create objects, open connections.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577840" y="1673352"/>
            <a:ext cx="3246120" cy="6858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715000" y="171907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@Test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715000" y="199339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Marks a method as a test case. JUnit will discover and run it automatically.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577840" y="2450592"/>
            <a:ext cx="3246120" cy="6858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715000" y="249631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@AfterEach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715000" y="277063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after every @Test method. Use for cleanup — close resources, reset state.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577840" y="3227832"/>
            <a:ext cx="3246120" cy="6858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715000" y="327355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assertEquals()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5715000" y="354787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assertion — verifies expected value equals actual value. Fails the test if not.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577840" y="4005072"/>
            <a:ext cx="3246120" cy="6858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715000" y="405079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@BeforeAll / @AfterAll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715000" y="432511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once before/after all tests in the class. Must be static. Use for expensive setup.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Automation Training Programme  —  Section 04: Unit Testing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TESTING WITH PYTEST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04  •  Unit Testing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5074920" cy="4005072"/>
          </a:xfrm>
          <a:prstGeom prst="roundRect">
            <a:avLst>
              <a:gd name="adj" fmla="val 228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" y="960120"/>
            <a:ext cx="4773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pytest — Python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75488" y="1261872"/>
            <a:ext cx="47731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pytest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5488" y="1444752"/>
            <a:ext cx="47731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calculator import Calculator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75488" y="1810512"/>
            <a:ext cx="47731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@pytest.fixture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5488" y="1993392"/>
            <a:ext cx="47731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calc():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5488" y="2176272"/>
            <a:ext cx="47731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Calculator()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5488" y="2542032"/>
            <a:ext cx="47731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test_adds_two_numbers(calc):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5488" y="2724912"/>
            <a:ext cx="47731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= calc.add(2, 3)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5488" y="2907792"/>
            <a:ext cx="47731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assert result == 5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5488" y="3273552"/>
            <a:ext cx="47731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test_raises_on_divide_by_zero(calc):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5488" y="3456432"/>
            <a:ext cx="47731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with pytest.raises(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5488" y="3639312"/>
            <a:ext cx="47731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ValueError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5488" y="3822192"/>
            <a:ext cx="47731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):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5488" y="4005072"/>
            <a:ext cx="47731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calc.divide(10, 0)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5488" y="4370832"/>
            <a:ext cx="477316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Run: pytest -v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577840" y="896112"/>
            <a:ext cx="3246120" cy="6858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715000" y="94183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@pytest.fixture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715000" y="121615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Replaces @BeforeEach. Returns a shared object that any test function can receive as a parameter.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577840" y="1673352"/>
            <a:ext cx="3246120" cy="6858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715000" y="171907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test_*()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715000" y="199339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function starting with test_ is auto-discovered by pytest. No class needed.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5577840" y="2450592"/>
            <a:ext cx="3246120" cy="6858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715000" y="249631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715000" y="277063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Python keyword. pytest rewrites it to give you detailed failure messages.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577840" y="3227832"/>
            <a:ext cx="3246120" cy="6858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715000" y="327355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pytest.raises()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715000" y="354787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Asserts that a specific exception is raised. Equivalent to JUnit's assertThrows().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5577840" y="4005072"/>
            <a:ext cx="3246120" cy="6858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715000" y="405079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pytest -v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715000" y="432511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from terminal. -v gives verbose output showing each test name and pass/fail.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Automation Training Programme  —  Section 04: Unit Testing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JUNIT 5 vs PYTEST — SIDE BY SIDE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04  •  Unit Testing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38404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8961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423160" y="89611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JUnit 5 (Java)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23560" y="89611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pytest (Python)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1298448"/>
            <a:ext cx="85039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13533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discovery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423160" y="13533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Methods annotated @Test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623560" y="135331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Functions starting with test_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1773936"/>
            <a:ext cx="850392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8912" y="18288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423160" y="18288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@BeforeEach method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23560" y="18288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@pytest.fixture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2249424"/>
            <a:ext cx="85039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8912" y="230428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Teardown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423160" y="23042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@AfterEach method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623560" y="23042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yield in fixture or finalizer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2724912"/>
            <a:ext cx="850392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8912" y="277977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Assertion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423160" y="277977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assertEquals(expected, actual)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623560" y="2779776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 actual == expected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3200400"/>
            <a:ext cx="85039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325526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Exception test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423160" y="325526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assertThrows(Ex.class, () -&gt; …)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623560" y="3255264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pytest.raises(Exception)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3675888"/>
            <a:ext cx="8503920" cy="43891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8912" y="37307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Skip a test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423160" y="373075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@Disabled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623560" y="373075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@pytest.mark.skip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20040" y="4151376"/>
            <a:ext cx="85039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8912" y="420624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tests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2423160" y="42062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mvn test  or  IDE run button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623560" y="42062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C3A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pytest -v in terminal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20040" y="4645152"/>
            <a:ext cx="8503920" cy="347472"/>
          </a:xfrm>
          <a:prstGeom prst="roundRect">
            <a:avLst>
              <a:gd name="adj" fmla="val 26316"/>
            </a:avLst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75488" y="46634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The concepts are identical — only the syntax differs. Learn one well and the other becomes easy.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Automation Training Programme  —  Section 04: Unit Testing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 — UNIT TESTING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04  •  Unit Testing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8503920" cy="118872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5488" y="1033272"/>
            <a:ext cx="475488" cy="868680"/>
          </a:xfrm>
          <a:prstGeom prst="roundRect">
            <a:avLst>
              <a:gd name="adj" fmla="val 13462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033272"/>
            <a:ext cx="475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987552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One assertion per test where possible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1389888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test that checks 10 things tells you nothing when it fails — you don't know which of the 10 broke. One assertion per test gives you a precise failure message every time.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221992"/>
            <a:ext cx="8503920" cy="118872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" y="2359152"/>
            <a:ext cx="475488" cy="868680"/>
          </a:xfrm>
          <a:prstGeom prst="roundRect">
            <a:avLst>
              <a:gd name="adj" fmla="val 13462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359152"/>
            <a:ext cx="475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2313432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Name your tests like documentation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2715768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test_login_fails_when_password_is_wrong tells you everything. test2 tells you nothing. Your test names should read as a specification of the expected behaviour.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547872"/>
            <a:ext cx="8503920" cy="118872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" y="3685032"/>
            <a:ext cx="475488" cy="868680"/>
          </a:xfrm>
          <a:prstGeom prst="roundRect">
            <a:avLst>
              <a:gd name="adj" fmla="val 13462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3685032"/>
            <a:ext cx="475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3639312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Never use real databases or external services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" y="4041648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tests must be isolated. Mock or stub any external dependency — database, API, file system. If your test hits a real server, it is an integration test, not a unit test.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Automation Training Programme  —  Section 04: Unit Testing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731520"/>
            <a:ext cx="3840480" cy="3840480"/>
          </a:xfrm>
          <a:prstGeom prst="ellipse">
            <a:avLst/>
          </a:prstGeom>
          <a:solidFill>
            <a:srgbClr val="7C3AED">
              <a:alpha val="8000"/>
            </a:srgbClr>
          </a:solidFill>
          <a:ln w="12700">
            <a:solidFill>
              <a:srgbClr val="7C3AED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6576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🔬  LAB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804672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Testing — Java &amp; Python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94360" y="1664208"/>
            <a:ext cx="4114800" cy="27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8105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A — JUnit 5 (Java)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212848"/>
            <a:ext cx="256032" cy="2560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2128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60120" y="2212848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are given a Calculator class in Java and Python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2779776"/>
            <a:ext cx="256032" cy="2560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7797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60120" y="2779776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5 JUnit 5 tests covering: add, subtract, multiply, divide, divide by zero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3346704"/>
            <a:ext cx="256032" cy="2560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3467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60120" y="3346704"/>
            <a:ext cx="3383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mvn test — confirm all 5 pass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3440" y="181051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B — pytest (Python)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2212848"/>
            <a:ext cx="256032" cy="2560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22128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029200" y="2212848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same 5 tests in pytest for the Python version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2779776"/>
            <a:ext cx="256032" cy="2560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27797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029200" y="2779776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Introduce a bug into the Calculator class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3346704"/>
            <a:ext cx="256032" cy="25603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33467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29200" y="3346704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your tests catch it — then fix the bug and re-run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94360" y="4498848"/>
            <a:ext cx="4114800" cy="384048"/>
          </a:xfrm>
          <a:prstGeom prst="roundRect">
            <a:avLst>
              <a:gd name="adj" fmla="val 16667"/>
            </a:avLst>
          </a:prstGeom>
          <a:solidFill>
            <a:srgbClr val="7C3AED">
              <a:alpha val="20000"/>
            </a:srgbClr>
          </a:solidFill>
          <a:ln w="12700">
            <a:solidFill>
              <a:srgbClr val="7C3AED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450799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 Duration: 13:30 – 15:00  •  Day 2 Afternoon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0D9488">
              <a:alpha val="10000"/>
            </a:srgbClr>
          </a:solidFill>
          <a:ln w="12700">
            <a:solidFill>
              <a:srgbClr val="0D9488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Testing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29260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Assured, Postman and Newman</a:t>
            </a:r>
            <a:endParaRPr lang="en-US" sz="15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API TESTING?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05  •  API Testing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804672"/>
          </a:xfrm>
          <a:prstGeom prst="roundRect">
            <a:avLst>
              <a:gd name="adj" fmla="val 11364"/>
            </a:avLst>
          </a:prstGeom>
          <a:solidFill>
            <a:srgbClr val="CCFBF1"/>
          </a:solidFill>
          <a:ln w="12700">
            <a:solidFill>
              <a:srgbClr val="99F6E4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" y="91440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testing verifies that application interfaces work correctly — sending the right data, returning the right responses, and handling errors gracefully.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20040" y="1828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an API Call Works: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2240280"/>
            <a:ext cx="1737360" cy="804672"/>
          </a:xfrm>
          <a:prstGeom prst="roundRect">
            <a:avLst>
              <a:gd name="adj" fmla="val 9091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240280"/>
            <a:ext cx="1737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(Your Test)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075688" y="245059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496312" y="2240280"/>
            <a:ext cx="1737360" cy="804672"/>
          </a:xfrm>
          <a:prstGeom prst="roundRect">
            <a:avLst>
              <a:gd name="adj" fmla="val 90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96312" y="2240280"/>
            <a:ext cx="1737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251960" y="245059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672584" y="2240280"/>
            <a:ext cx="1737360" cy="804672"/>
          </a:xfrm>
          <a:prstGeom prst="roundRect">
            <a:avLst>
              <a:gd name="adj" fmla="val 909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72584" y="2240280"/>
            <a:ext cx="1737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28232" y="2450592"/>
            <a:ext cx="411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848856" y="2240280"/>
            <a:ext cx="1737360" cy="804672"/>
          </a:xfrm>
          <a:prstGeom prst="roundRect">
            <a:avLst>
              <a:gd name="adj" fmla="val 9091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48856" y="2240280"/>
            <a:ext cx="17373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3246120"/>
            <a:ext cx="4114800" cy="658368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" y="330098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🔢  Status Code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357530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OK  •  404 Not Found  •  500 Server Error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09160" y="3246120"/>
            <a:ext cx="4114800" cy="658368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46320" y="330098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 Response Body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846320" y="357530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fields present · Values correct · Data types match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3995928"/>
            <a:ext cx="4114800" cy="658368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57200" y="405079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 Response Time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432511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responds within acceptable threshold (e.g. &lt; 2 seconds)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3995928"/>
            <a:ext cx="4114800" cy="658368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46320" y="405079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🔒  Error Handling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846320" y="4325112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Invalid input returns 400  •  Unauthorised returns 401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Automation Training Programme  —  Section 05: API Testing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 METHODS &amp; STATUS CODES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05  •  API Testing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20040" y="868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HTTP Methods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261872"/>
            <a:ext cx="4114800" cy="566928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38912" y="1335024"/>
            <a:ext cx="841248" cy="402336"/>
          </a:xfrm>
          <a:prstGeom prst="roundRect">
            <a:avLst>
              <a:gd name="adj" fmla="val 13636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335024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89888" y="13716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 data — read only, no changes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1920240"/>
            <a:ext cx="4114800" cy="566928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8912" y="1993392"/>
            <a:ext cx="841248" cy="402336"/>
          </a:xfrm>
          <a:prstGeom prst="roundRect">
            <a:avLst>
              <a:gd name="adj" fmla="val 13636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1993392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89888" y="202996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new data — send data in request body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2578608"/>
            <a:ext cx="4114800" cy="566928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8912" y="2651760"/>
            <a:ext cx="841248" cy="402336"/>
          </a:xfrm>
          <a:prstGeom prst="roundRect">
            <a:avLst>
              <a:gd name="adj" fmla="val 13636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8912" y="2651760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389888" y="268833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existing data — replace the full record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3236976"/>
            <a:ext cx="4114800" cy="566928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38912" y="3310128"/>
            <a:ext cx="841248" cy="402336"/>
          </a:xfrm>
          <a:prstGeom prst="roundRect">
            <a:avLst>
              <a:gd name="adj" fmla="val 13636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8912" y="3310128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389888" y="334670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Delete a resource from the server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3895344"/>
            <a:ext cx="4114800" cy="566928"/>
          </a:xfrm>
          <a:prstGeom prst="roundRect">
            <a:avLst>
              <a:gd name="adj" fmla="val 161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38912" y="3968496"/>
            <a:ext cx="841248" cy="402336"/>
          </a:xfrm>
          <a:prstGeom prst="round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" y="3968496"/>
            <a:ext cx="841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PATCH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389888" y="400507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 update — modify only specific fields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09160" y="868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 Codes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709160" y="1261872"/>
            <a:ext cx="4114800" cy="475488"/>
          </a:xfrm>
          <a:prstGeom prst="roundRect">
            <a:avLst>
              <a:gd name="adj" fmla="val 1923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846320" y="131673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 OK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46320" y="153619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succeeded. Data returned.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709160" y="1828800"/>
            <a:ext cx="4114800" cy="475488"/>
          </a:xfrm>
          <a:prstGeom prst="roundRect">
            <a:avLst>
              <a:gd name="adj" fmla="val 1923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846320" y="188366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 Created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846320" y="210312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resource created successfully.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09160" y="2395728"/>
            <a:ext cx="4114800" cy="475488"/>
          </a:xfrm>
          <a:prstGeom prst="roundRect">
            <a:avLst>
              <a:gd name="adj" fmla="val 1923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846320" y="245059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400 Bad Request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846320" y="267004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Invalid input — check your request body or params.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709160" y="2962656"/>
            <a:ext cx="4114800" cy="475488"/>
          </a:xfrm>
          <a:prstGeom prst="roundRect">
            <a:avLst>
              <a:gd name="adj" fmla="val 1923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846320" y="30175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401 Unauthorised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846320" y="323697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Authentication required or failed.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709160" y="3529584"/>
            <a:ext cx="4114800" cy="475488"/>
          </a:xfrm>
          <a:prstGeom prst="roundRect">
            <a:avLst>
              <a:gd name="adj" fmla="val 1923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846320" y="35844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404 Not Found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846320" y="380390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resource does not exist.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709160" y="4096512"/>
            <a:ext cx="4114800" cy="475488"/>
          </a:xfrm>
          <a:prstGeom prst="roundRect">
            <a:avLst>
              <a:gd name="adj" fmla="val 1923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4846320" y="415137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 Internal Server Error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846320" y="437083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Something broke on the server side.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Automation Training Programme  —  Section 05: API Testing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TESTING WITH POSTMAN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05  •  API Testing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658368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" y="9144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Postman is a GUI tool for sending HTTP requests and writing assertions on responses. It is the fastest way to explore and test an API interactively.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627632"/>
            <a:ext cx="5074920" cy="2487168"/>
          </a:xfrm>
          <a:prstGeom prst="roundRect">
            <a:avLst>
              <a:gd name="adj" fmla="val 367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2304288"/>
            <a:ext cx="5074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[SCREENSHOT]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20040" y="2816352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Postman — Collection with GET and POST requests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577840" y="1627632"/>
            <a:ext cx="3246120" cy="5486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715000" y="1673352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715000" y="1901952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 related requests together — e.g. all login API tests in one collection.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577840" y="2249424"/>
            <a:ext cx="3246120" cy="5486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715000" y="2295144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715000" y="252374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 base URLs and tokens as variables — never hardcode them in requests.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577840" y="2871216"/>
            <a:ext cx="3246120" cy="5486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715000" y="2916936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Assertions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715000" y="3145536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JavaScript in the Tests tab to verify status codes, response fields, timing.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577840" y="3493008"/>
            <a:ext cx="3246120" cy="54864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715000" y="353872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Newman (CLI)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715000" y="3767328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your Postman collection from the terminal — integrate into CI/CD pipelines.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4224528"/>
            <a:ext cx="8503920" cy="502920"/>
          </a:xfrm>
          <a:prstGeom prst="roundRect">
            <a:avLst>
              <a:gd name="adj" fmla="val 18182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75488" y="426110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⭐  Best Practice: Use environments for base URLs and tokens. Never hardcode URLs or API keys in your collection.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Automation Training Programme  —  Section 05: API Testing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TESTING WITH REST ASSURED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05  •  API Testing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5074920" cy="4005072"/>
          </a:xfrm>
          <a:prstGeom prst="roundRect">
            <a:avLst>
              <a:gd name="adj" fmla="val 2283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" y="960120"/>
            <a:ext cx="4773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REST Assured — Java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75488" y="1261872"/>
            <a:ext cx="4773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io.restassured.RestAssured.*;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75488" y="1461211"/>
            <a:ext cx="4773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io.restassured.matcher.*;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75488" y="1859890"/>
            <a:ext cx="4773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8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@Test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75488" y="2059229"/>
            <a:ext cx="4773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getUserReturns200() {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75488" y="2457907"/>
            <a:ext cx="4773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given()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75488" y="2657246"/>
            <a:ext cx="4773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.baseUri("https://api.example.com")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5488" y="2856586"/>
            <a:ext cx="4773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.header("Accept", "application/json")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5488" y="3055925"/>
            <a:ext cx="4773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.when()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5488" y="3255264"/>
            <a:ext cx="4773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.get("/users/1")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5488" y="3454603"/>
            <a:ext cx="4773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.then()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5488" y="3653942"/>
            <a:ext cx="4773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.statusCode(200)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5488" y="3853282"/>
            <a:ext cx="4773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.body("name",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5488" y="4052621"/>
            <a:ext cx="4773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equalTo("John Doe"))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75488" y="4251960"/>
            <a:ext cx="4773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.body("email",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5488" y="4451299"/>
            <a:ext cx="4773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notNullValue());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5488" y="4650638"/>
            <a:ext cx="4773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577840" y="896112"/>
            <a:ext cx="3246120" cy="9144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715000" y="969264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given()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715000" y="1353312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up preconditions — base URL, headers, authentication, request body.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577840" y="1920240"/>
            <a:ext cx="3246120" cy="9144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715000" y="1993392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when()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715000" y="237744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 the action — which HTTP method and endpoint to call.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577840" y="2944368"/>
            <a:ext cx="3246120" cy="91440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715000" y="301752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then()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5715000" y="3401568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Assert the response — status code, body fields, response time.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577840" y="4005072"/>
            <a:ext cx="3246120" cy="658368"/>
          </a:xfrm>
          <a:prstGeom prst="roundRect">
            <a:avLst>
              <a:gd name="adj" fmla="val 13889"/>
            </a:avLst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715000" y="4059936"/>
            <a:ext cx="2971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Always validate BOTH status code and response body — never just one.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Automation Training Programme  —  Section 05: API Testing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RUNNING TESTS WITH NEWMAN (CLI)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05  •  API Testing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658368"/>
          </a:xfrm>
          <a:prstGeom prst="roundRect">
            <a:avLst>
              <a:gd name="adj" fmla="val 138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" y="91440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Newman is the command-line companion to Postman. It runs your Postman collections from the terminal — without opening the Postman UI.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6642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Commands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2057400"/>
            <a:ext cx="8503920" cy="621792"/>
          </a:xfrm>
          <a:prstGeom prst="roundRect">
            <a:avLst>
              <a:gd name="adj" fmla="val 14706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5488" y="210312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 npm install -g newman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5488" y="2404872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Newman globally via Node.js (one time only)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2770632"/>
            <a:ext cx="8503920" cy="621792"/>
          </a:xfrm>
          <a:prstGeom prst="roundRect">
            <a:avLst>
              <a:gd name="adj" fmla="val 14706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" y="2816352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 newman run collection.json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5488" y="3118104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 Postman collection exported as JSON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3483864"/>
            <a:ext cx="8503920" cy="621792"/>
          </a:xfrm>
          <a:prstGeom prst="roundRect">
            <a:avLst>
              <a:gd name="adj" fmla="val 14706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5488" y="3529584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 newman run collection.json -e env.json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5488" y="3831336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with a Postman environment file (variables)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4197096"/>
            <a:ext cx="8503920" cy="621792"/>
          </a:xfrm>
          <a:prstGeom prst="roundRect">
            <a:avLst>
              <a:gd name="adj" fmla="val 14706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" y="4242816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 newman run collection.json --reporters cli,junit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5488" y="4544568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results to terminal and JUnit XML (for CI/CD)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4645152"/>
            <a:ext cx="8503920" cy="365760"/>
          </a:xfrm>
          <a:prstGeom prst="roundRect">
            <a:avLst>
              <a:gd name="adj" fmla="val 25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75488" y="4663440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Newman is what makes Postman tests work in a CI/CD pipeline — GitHub Actions, Jenkins, or any automation server can run it.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Automation Training Programme  —  Section 05: API Testing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PRACTICES — API TESTING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05  •  API Testing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8503920" cy="118872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5488" y="1033272"/>
            <a:ext cx="475488" cy="868680"/>
          </a:xfrm>
          <a:prstGeom prst="roundRect">
            <a:avLst>
              <a:gd name="adj" fmla="val 1346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033272"/>
            <a:ext cx="475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987552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Always validate status code AND response body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1389888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200 with the wrong data is still a failure. Always check both that the request succeeded and that the data returned is what you expected.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221992"/>
            <a:ext cx="8503920" cy="118872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" y="2359152"/>
            <a:ext cx="475488" cy="868680"/>
          </a:xfrm>
          <a:prstGeom prst="roundRect">
            <a:avLst>
              <a:gd name="adj" fmla="val 13462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359152"/>
            <a:ext cx="475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2313432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Use environments — never hardcode URLs or tokens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2715768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Hardcoded URLs and API keys break when environments change and expose secrets in your code. Use Postman environments or configuration files instead.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547872"/>
            <a:ext cx="8503920" cy="1188720"/>
          </a:xfrm>
          <a:prstGeom prst="roundRect">
            <a:avLst>
              <a:gd name="adj" fmla="val 769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" y="3685032"/>
            <a:ext cx="475488" cy="868680"/>
          </a:xfrm>
          <a:prstGeom prst="roundRect">
            <a:avLst>
              <a:gd name="adj" fmla="val 13462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3685032"/>
            <a:ext cx="4754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3639312"/>
            <a:ext cx="7406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API tests must be stateless — clean up what you create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" y="4041648"/>
            <a:ext cx="7406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your test creates a user, delete that user at the end. Tests that leave data behind cause other tests to fail randomly. Each test should leave the system as it found it.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Automation Training Programme  —  Section 05: API Testing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731520"/>
            <a:ext cx="3840480" cy="3840480"/>
          </a:xfrm>
          <a:prstGeom prst="ellipse">
            <a:avLst/>
          </a:prstGeom>
          <a:solidFill>
            <a:srgbClr val="0D9488">
              <a:alpha val="8000"/>
            </a:srgbClr>
          </a:solidFill>
          <a:ln w="12700">
            <a:solidFill>
              <a:srgbClr val="0D9488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36576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🔬  LAB 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80467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Testing — Postman &amp; REST Assured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94360" y="1664208"/>
            <a:ext cx="411480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8105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A — Postman + Newman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212848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2128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60120" y="221284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Postman to explore the provided REST API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2688336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6883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60120" y="2688336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 GET request — retrieve a user and assert the response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3163824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1638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60120" y="3163824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 POST request — create a new resource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" y="3639312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6393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960120" y="363931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a negative test — invalid ID returns 404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94360" y="4114800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41148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60120" y="41148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the collection via Newman from the terminal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63440" y="181051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B — REST Assured (Java)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63440" y="2212848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22128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29200" y="2212848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Recreate the GET test using REST Assured in Java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63440" y="2779776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27797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029200" y="2779776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Recreate the POST test using REST Assured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63440" y="3346704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33467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029200" y="3346704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assertion for both status code and response body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63440" y="3913632"/>
            <a:ext cx="256032" cy="256032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63440" y="39136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029200" y="3913632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with mvn test and confirm all pass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94360" y="4617720"/>
            <a:ext cx="4114800" cy="384048"/>
          </a:xfrm>
          <a:prstGeom prst="roundRect">
            <a:avLst>
              <a:gd name="adj" fmla="val 16667"/>
            </a:avLst>
          </a:prstGeom>
          <a:solidFill>
            <a:srgbClr val="0D9488">
              <a:alpha val="20000"/>
            </a:srgbClr>
          </a:solidFill>
          <a:ln w="12700">
            <a:solidFill>
              <a:srgbClr val="0D9488">
                <a:alpha val="4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" y="4626864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 Duration: 15:15 – 17:00  •  Day 2 Afternoon</a:t>
            </a:r>
            <a:endParaRPr lang="en-US" sz="10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COMING IN MID-LEVEL TRAINING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Next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8503920" cy="566928"/>
          </a:xfrm>
          <a:prstGeom prst="roundRect">
            <a:avLst>
              <a:gd name="adj" fmla="val 16129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5488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now write UI, unit and API tests. In mid-level training you will take your skills further: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572768"/>
            <a:ext cx="2697480" cy="3035808"/>
          </a:xfrm>
          <a:prstGeom prst="roundRect">
            <a:avLst>
              <a:gd name="adj" fmla="val 339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📜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75488" y="228600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Contract Testing — Pact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75488" y="2816352"/>
            <a:ext cx="242316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multiple services talk to each other, Pact ensures they stay compatible. Consumer-driven contract testing at the API level.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72968" y="1572768"/>
            <a:ext cx="2697480" cy="3035808"/>
          </a:xfrm>
          <a:prstGeom prst="roundRect">
            <a:avLst>
              <a:gd name="adj" fmla="val 339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28416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328416" y="228600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Testing — JMeter &amp; k6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328416" y="2816352"/>
            <a:ext cx="242316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tested that the API returns the right data. Next level tests how it handles 10,000 users at the same time.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25896" y="1572768"/>
            <a:ext cx="2697480" cy="3035808"/>
          </a:xfrm>
          <a:prstGeom prst="roundRect">
            <a:avLst>
              <a:gd name="adj" fmla="val 339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81344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🔄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181344" y="228600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CI/CD Integration — GitHub Actions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181344" y="2816352"/>
            <a:ext cx="2423160" cy="1664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now you run tests manually. In mid-level you will plug your test suite into a pipeline that runs automatically on every commit.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Automation Training Programme  —  End of Section 05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HAVE LEARNED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Summary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96112"/>
            <a:ext cx="2697480" cy="1901952"/>
          </a:xfrm>
          <a:prstGeom prst="roundRect">
            <a:avLst>
              <a:gd name="adj" fmla="val 4808"/>
            </a:avLst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29768" y="987552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9875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005840"/>
            <a:ext cx="198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Foundations of Testing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" y="14630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What software testing is and why it exists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29768" y="177393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Functional, non-functional, manual and automated testing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29768" y="20848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Unit, integration, system and acceptance levels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29768" y="23957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The testing pyramid and why it matters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172968" y="896112"/>
            <a:ext cx="2697480" cy="1901952"/>
          </a:xfrm>
          <a:prstGeom prst="roundRect">
            <a:avLst>
              <a:gd name="adj" fmla="val 4808"/>
            </a:avLst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82696" y="987552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82696" y="9875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767328" y="1005840"/>
            <a:ext cx="198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Automation Fundamentals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82696" y="14630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What to automate — and what not to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282696" y="177393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Rules for choosing automation candidates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282696" y="20848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3 core industry best practices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025896" y="896112"/>
            <a:ext cx="2697480" cy="1901952"/>
          </a:xfrm>
          <a:prstGeom prst="roundRect">
            <a:avLst>
              <a:gd name="adj" fmla="val 4808"/>
            </a:avLst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35624" y="987552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35624" y="9875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20256" y="1005840"/>
            <a:ext cx="198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Selenium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135624" y="14630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How Selenium WebDriver works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135624" y="177393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Locators — ID, CSS, XPath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135624" y="208483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Writing and running browser tests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746504" y="2944368"/>
            <a:ext cx="2697480" cy="1901952"/>
          </a:xfrm>
          <a:prstGeom prst="roundRect">
            <a:avLst>
              <a:gd name="adj" fmla="val 4808"/>
            </a:avLst>
          </a:prstGeom>
          <a:solidFill>
            <a:srgbClr val="EDE9FE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1856232" y="3035808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56232" y="30358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340864" y="3054096"/>
            <a:ext cx="198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Testing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856232" y="351129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JUnit 5 annotations and lifecycle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856232" y="38221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pytest fixtures and assertions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856232" y="41330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Java vs Python side by side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599432" y="2944368"/>
            <a:ext cx="2697480" cy="1901952"/>
          </a:xfrm>
          <a:prstGeom prst="roundRect">
            <a:avLst>
              <a:gd name="adj" fmla="val 4808"/>
            </a:avLst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709160" y="3035808"/>
            <a:ext cx="411480" cy="411480"/>
          </a:xfrm>
          <a:prstGeom prst="roundRect">
            <a:avLst>
              <a:gd name="adj" fmla="val 1333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09160" y="30358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193792" y="3054096"/>
            <a:ext cx="198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Testing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709160" y="351129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HTTP methods and status codes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709160" y="38221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Postman collections and assertions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709160" y="41330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REST Assured given/when/then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709160" y="444398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Newman CLI execution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Automation Training Programme  —  Course Complete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73152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LEARNING ROADMAP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178040" y="109728"/>
            <a:ext cx="1600200" cy="475488"/>
          </a:xfrm>
          <a:prstGeom prst="roundRect">
            <a:avLst>
              <a:gd name="adj" fmla="val 1153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78040" y="109728"/>
            <a:ext cx="1600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Comes Next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3840480" cy="3913632"/>
          </a:xfrm>
          <a:prstGeom prst="roundRect">
            <a:avLst>
              <a:gd name="adj" fmla="val 2381"/>
            </a:avLst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75488" y="987552"/>
            <a:ext cx="1371600" cy="384048"/>
          </a:xfrm>
          <a:prstGeom prst="roundRect">
            <a:avLst>
              <a:gd name="adj" fmla="val 14286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98755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TODAY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" y="148132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Foundation Level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5488" y="1938528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What is software testing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" y="2185416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Types and levels of testing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" y="2432304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Testing pyramid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" y="2679192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Test automation fundamentals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" y="292608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Selenium WebDriver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" y="3172968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JUnit 5 &amp; pytest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5488" y="3419856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REST Assured &amp; Postman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" y="3666744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Newman CLI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29768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94A3B8"/>
                </a:solidFill>
              </a:rPr>
              <a:t>→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4983480" y="868680"/>
            <a:ext cx="3840480" cy="3913632"/>
          </a:xfrm>
          <a:prstGeom prst="roundRect">
            <a:avLst>
              <a:gd name="adj" fmla="val 2381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138928" y="987552"/>
            <a:ext cx="1554480" cy="384048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38928" y="987552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🔵  MID-LEVEL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138928" y="1481328"/>
            <a:ext cx="3520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 Level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138928" y="1938528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Page Object Model (POM)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138928" y="2185416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BDD with Cucumber &amp; Gherkin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138928" y="2432304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Contract Testing with Pact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138928" y="2679192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Performance Testing — JMeter &amp; k6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38928" y="292608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Mobile Automation — Appium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138928" y="3172968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CI/CD Integration — GitHub Actions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38928" y="3419856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Test Reporting — Allure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138928" y="3666744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 Advanced framework design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86460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Automation Training Programme  —  Your Next Steps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914400"/>
            <a:ext cx="4389120" cy="4389120"/>
          </a:xfrm>
          <a:prstGeom prst="ellipse">
            <a:avLst/>
          </a:prstGeom>
          <a:solidFill>
            <a:srgbClr val="3B82F6">
              <a:alpha val="10000"/>
            </a:srgbClr>
          </a:solidFill>
          <a:ln w="12700">
            <a:solidFill>
              <a:srgbClr val="3B82F6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3200400"/>
            <a:ext cx="2743200" cy="2743200"/>
          </a:xfrm>
          <a:prstGeom prst="ellipse">
            <a:avLst/>
          </a:prstGeom>
          <a:solidFill>
            <a:srgbClr val="2563EB">
              <a:alpha val="12000"/>
            </a:srgbClr>
          </a:solidFill>
          <a:ln w="12700">
            <a:solidFill>
              <a:srgbClr val="2563EB">
                <a:alpha val="2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9144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Well Done.</a:t>
            </a:r>
            <a:endParaRPr lang="en-US" sz="5800" dirty="0"/>
          </a:p>
        </p:txBody>
      </p:sp>
      <p:sp>
        <p:nvSpPr>
          <p:cNvPr id="6" name="Shape 4"/>
          <p:cNvSpPr/>
          <p:nvPr/>
        </p:nvSpPr>
        <p:spPr>
          <a:xfrm>
            <a:off x="594360" y="2011680"/>
            <a:ext cx="4114800" cy="274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176272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AE6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have completed the Test Automation Foundation Training.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2670048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now have the skills to write real, working automated tests.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mid-level programme will build on everything you practised today.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3611880"/>
            <a:ext cx="2926080" cy="530352"/>
          </a:xfrm>
          <a:prstGeom prst="roundRect">
            <a:avLst>
              <a:gd name="adj" fmla="val 13793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3611880"/>
            <a:ext cx="2926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7731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Training Material  —  Not for Distribution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Automation Training - Student</dc:title>
  <dc:subject>PptxGenJS Presentation</dc:subject>
  <dc:creator>Training Team</dc:creator>
  <cp:lastModifiedBy>Training Team</cp:lastModifiedBy>
  <cp:revision>1</cp:revision>
  <dcterms:created xsi:type="dcterms:W3CDTF">2026-06-29T17:41:07Z</dcterms:created>
  <dcterms:modified xsi:type="dcterms:W3CDTF">2026-06-29T17:41:07Z</dcterms:modified>
</cp:coreProperties>
</file>